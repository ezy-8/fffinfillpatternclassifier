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</p:sldIdLst>
  <p:sldSz cx="438912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D1725"/>
    <a:srgbClr val="D6E1F7"/>
    <a:srgbClr val="B43500"/>
    <a:srgbClr val="B14500"/>
    <a:srgbClr val="AE5800"/>
    <a:srgbClr val="8F993E"/>
    <a:srgbClr val="C1C6C8"/>
    <a:srgbClr val="DAC79D"/>
    <a:srgbClr val="642F6C"/>
    <a:srgbClr val="007F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1C5B65-D82B-6615-6593-AFBC36625B6D}" v="5" dt="2025-05-09T19:40:01.768"/>
    <p1510:client id="{C2DBCD26-849D-41F1-A497-2D54BDBADB15}" v="174" dt="2025-05-09T18:31:50.3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" d="100"/>
          <a:sy n="15" d="100"/>
        </p:scale>
        <p:origin x="1680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E22FEF0-7B13-4341-9BBA-1D63BA2987A8}" type="doc">
      <dgm:prSet loTypeId="urn:microsoft.com/office/officeart/2005/8/layout/process5" loCatId="process" qsTypeId="urn:microsoft.com/office/officeart/2005/8/quickstyle/simple1" qsCatId="simple" csTypeId="urn:microsoft.com/office/officeart/2005/8/colors/colorful3" csCatId="colorful" phldr="1"/>
      <dgm:spPr/>
    </dgm:pt>
    <dgm:pt modelId="{31DD57C3-B632-4695-8E60-AE34E030A4E1}">
      <dgm:prSet phldrT="[Text]" custT="1"/>
      <dgm:spPr/>
      <dgm:t>
        <a:bodyPr/>
        <a:lstStyle/>
        <a:p>
          <a:r>
            <a:rPr lang="en-US" sz="3200" b="0">
              <a:latin typeface="Times New Roman" panose="02020603050405020304" pitchFamily="18" charset="0"/>
              <a:cs typeface="Times New Roman" panose="02020603050405020304" pitchFamily="18" charset="0"/>
            </a:rPr>
            <a:t>1. Full signals are segmented into time windows of 100 steps.</a:t>
          </a:r>
        </a:p>
      </dgm:t>
    </dgm:pt>
    <dgm:pt modelId="{02B057B7-292B-49E0-BDBD-9E83D15DCD30}" type="parTrans" cxnId="{C1E1A8BB-D9D4-4699-9DCF-6669E13E372A}">
      <dgm:prSet/>
      <dgm:spPr/>
      <dgm:t>
        <a:bodyPr/>
        <a:lstStyle/>
        <a:p>
          <a:endParaRPr lang="en-US"/>
        </a:p>
      </dgm:t>
    </dgm:pt>
    <dgm:pt modelId="{47ED2967-5DC1-4D5C-960D-913D1DA021D9}" type="sibTrans" cxnId="{C1E1A8BB-D9D4-4699-9DCF-6669E13E372A}">
      <dgm:prSet/>
      <dgm:spPr/>
      <dgm:t>
        <a:bodyPr/>
        <a:lstStyle/>
        <a:p>
          <a:endParaRPr lang="en-US"/>
        </a:p>
      </dgm:t>
    </dgm:pt>
    <dgm:pt modelId="{044454B3-FFB6-4EA9-A7DB-F2F30B210894}">
      <dgm:prSet phldrT="[Text]" custT="1"/>
      <dgm:spPr/>
      <dgm:t>
        <a:bodyPr/>
        <a:lstStyle/>
        <a:p>
          <a:r>
            <a:rPr lang="en-US" sz="3200" b="0">
              <a:latin typeface="Times New Roman" panose="02020603050405020304" pitchFamily="18" charset="0"/>
              <a:cs typeface="Times New Roman" panose="02020603050405020304" pitchFamily="18" charset="0"/>
            </a:rPr>
            <a:t>2. Time windows are transformed into the frequency domain with Fast Fourier Transform</a:t>
          </a:r>
        </a:p>
      </dgm:t>
    </dgm:pt>
    <dgm:pt modelId="{CB6BC845-E0B8-46F7-A6BA-9EE06626814D}" type="parTrans" cxnId="{304A068F-095E-4642-8BA6-BF81D2D66EDC}">
      <dgm:prSet/>
      <dgm:spPr/>
      <dgm:t>
        <a:bodyPr/>
        <a:lstStyle/>
        <a:p>
          <a:endParaRPr lang="en-US"/>
        </a:p>
      </dgm:t>
    </dgm:pt>
    <dgm:pt modelId="{79832168-9B47-46A9-9CF6-F5FB8EC6C815}" type="sibTrans" cxnId="{304A068F-095E-4642-8BA6-BF81D2D66EDC}">
      <dgm:prSet/>
      <dgm:spPr/>
      <dgm:t>
        <a:bodyPr/>
        <a:lstStyle/>
        <a:p>
          <a:endParaRPr lang="en-US"/>
        </a:p>
      </dgm:t>
    </dgm:pt>
    <dgm:pt modelId="{E6B8F0AB-65A8-43B2-A14E-652E890CBC9A}">
      <dgm:prSet phldrT="[Text]" custT="1"/>
      <dgm:spPr/>
      <dgm:t>
        <a:bodyPr/>
        <a:lstStyle/>
        <a:p>
          <a:r>
            <a:rPr lang="en-US" sz="3200" b="0" dirty="0">
              <a:latin typeface="Times New Roman" panose="02020603050405020304" pitchFamily="18" charset="0"/>
              <a:cs typeface="Times New Roman" panose="02020603050405020304" pitchFamily="18" charset="0"/>
            </a:rPr>
            <a:t>4. New dataset is split into train sets (80%) and test sets (20%).</a:t>
          </a:r>
        </a:p>
      </dgm:t>
    </dgm:pt>
    <dgm:pt modelId="{4BCF8A39-D074-4A11-8F65-65BF335FE415}" type="parTrans" cxnId="{737108BF-08E3-444E-A622-A1E28433D9A8}">
      <dgm:prSet/>
      <dgm:spPr/>
      <dgm:t>
        <a:bodyPr/>
        <a:lstStyle/>
        <a:p>
          <a:endParaRPr lang="en-US"/>
        </a:p>
      </dgm:t>
    </dgm:pt>
    <dgm:pt modelId="{A0A89E4F-BD99-4264-B5A4-9872A00F5AC2}" type="sibTrans" cxnId="{737108BF-08E3-444E-A622-A1E28433D9A8}">
      <dgm:prSet/>
      <dgm:spPr/>
      <dgm:t>
        <a:bodyPr/>
        <a:lstStyle/>
        <a:p>
          <a:endParaRPr lang="en-US"/>
        </a:p>
      </dgm:t>
    </dgm:pt>
    <dgm:pt modelId="{A7542135-5A74-4A15-85A8-356CBE365C59}">
      <dgm:prSet phldrT="[Text]" custT="1"/>
      <dgm:spPr/>
      <dgm:t>
        <a:bodyPr/>
        <a:lstStyle/>
        <a:p>
          <a:r>
            <a:rPr lang="en-US" sz="3200" b="0" dirty="0">
              <a:latin typeface="Times New Roman" panose="02020603050405020304" pitchFamily="18" charset="0"/>
              <a:cs typeface="Times New Roman" panose="02020603050405020304" pitchFamily="18" charset="0"/>
            </a:rPr>
            <a:t>Performance of all classifiers with various parameters are evaluated with test sets.</a:t>
          </a:r>
        </a:p>
      </dgm:t>
    </dgm:pt>
    <dgm:pt modelId="{91A06C88-094B-4771-B0F9-AC81A0945414}" type="parTrans" cxnId="{A01296ED-CB78-4783-8048-7CD666D06543}">
      <dgm:prSet/>
      <dgm:spPr/>
      <dgm:t>
        <a:bodyPr/>
        <a:lstStyle/>
        <a:p>
          <a:endParaRPr lang="en-US"/>
        </a:p>
      </dgm:t>
    </dgm:pt>
    <dgm:pt modelId="{9B8D0F8D-6B6C-48AC-999A-E55A4475613E}" type="sibTrans" cxnId="{A01296ED-CB78-4783-8048-7CD666D06543}">
      <dgm:prSet/>
      <dgm:spPr/>
      <dgm:t>
        <a:bodyPr/>
        <a:lstStyle/>
        <a:p>
          <a:endParaRPr lang="en-US"/>
        </a:p>
      </dgm:t>
    </dgm:pt>
    <dgm:pt modelId="{B07845B5-E7C5-4F91-AF63-2950DAA5E7CD}">
      <dgm:prSet phldrT="[Text]" custT="1"/>
      <dgm:spPr/>
      <dgm:t>
        <a:bodyPr/>
        <a:lstStyle/>
        <a:p>
          <a:r>
            <a:rPr lang="en-US" sz="3200" b="0" dirty="0">
              <a:latin typeface="Times New Roman" panose="02020603050405020304" pitchFamily="18" charset="0"/>
              <a:cs typeface="Times New Roman" panose="02020603050405020304" pitchFamily="18" charset="0"/>
            </a:rPr>
            <a:t>3. Statistical features are extracted from the frequency domains of each window.</a:t>
          </a:r>
        </a:p>
      </dgm:t>
    </dgm:pt>
    <dgm:pt modelId="{D166A201-7055-44E6-A4F8-52357B69E62C}" type="parTrans" cxnId="{9998B617-2FDF-406A-987E-CEA6E8D2179F}">
      <dgm:prSet/>
      <dgm:spPr/>
      <dgm:t>
        <a:bodyPr/>
        <a:lstStyle/>
        <a:p>
          <a:endParaRPr lang="en-US"/>
        </a:p>
      </dgm:t>
    </dgm:pt>
    <dgm:pt modelId="{79580E5A-469B-492F-A60F-E9C40020DBE5}" type="sibTrans" cxnId="{9998B617-2FDF-406A-987E-CEA6E8D2179F}">
      <dgm:prSet/>
      <dgm:spPr/>
      <dgm:t>
        <a:bodyPr/>
        <a:lstStyle/>
        <a:p>
          <a:endParaRPr lang="en-US"/>
        </a:p>
      </dgm:t>
    </dgm:pt>
    <dgm:pt modelId="{388DFF56-C60B-4714-9EC5-EA5C2C7EB33D}">
      <dgm:prSet phldrT="[Text]" custT="1"/>
      <dgm:spPr/>
      <dgm:t>
        <a:bodyPr/>
        <a:lstStyle/>
        <a:p>
          <a:r>
            <a:rPr lang="en-US" sz="3200" b="0" dirty="0">
              <a:latin typeface="Times New Roman" panose="02020603050405020304" pitchFamily="18" charset="0"/>
              <a:cs typeface="Times New Roman" panose="02020603050405020304" pitchFamily="18" charset="0"/>
            </a:rPr>
            <a:t>5. Classifiers are trained with different ML algorithms.</a:t>
          </a:r>
        </a:p>
      </dgm:t>
    </dgm:pt>
    <dgm:pt modelId="{91CA7F40-9A00-4639-9507-3FDEB3585AEF}" type="parTrans" cxnId="{1175F87C-E7D8-42C8-9DAE-AF59840D4485}">
      <dgm:prSet/>
      <dgm:spPr/>
      <dgm:t>
        <a:bodyPr/>
        <a:lstStyle/>
        <a:p>
          <a:endParaRPr lang="en-US"/>
        </a:p>
      </dgm:t>
    </dgm:pt>
    <dgm:pt modelId="{7CA8E927-1A85-46F2-8F56-4BFF1D95EFD1}" type="sibTrans" cxnId="{1175F87C-E7D8-42C8-9DAE-AF59840D4485}">
      <dgm:prSet/>
      <dgm:spPr/>
      <dgm:t>
        <a:bodyPr/>
        <a:lstStyle/>
        <a:p>
          <a:endParaRPr lang="en-US"/>
        </a:p>
      </dgm:t>
    </dgm:pt>
    <dgm:pt modelId="{67FF1765-D4DE-40F8-81DF-8B5A697CE1CD}" type="pres">
      <dgm:prSet presAssocID="{9E22FEF0-7B13-4341-9BBA-1D63BA2987A8}" presName="diagram" presStyleCnt="0">
        <dgm:presLayoutVars>
          <dgm:dir/>
          <dgm:resizeHandles val="exact"/>
        </dgm:presLayoutVars>
      </dgm:prSet>
      <dgm:spPr/>
    </dgm:pt>
    <dgm:pt modelId="{172483CB-83AA-48EE-BFA5-4290DC2FCC69}" type="pres">
      <dgm:prSet presAssocID="{31DD57C3-B632-4695-8E60-AE34E030A4E1}" presName="node" presStyleLbl="node1" presStyleIdx="0" presStyleCnt="6" custScaleX="251258" custScaleY="278771">
        <dgm:presLayoutVars>
          <dgm:bulletEnabled val="1"/>
        </dgm:presLayoutVars>
      </dgm:prSet>
      <dgm:spPr/>
    </dgm:pt>
    <dgm:pt modelId="{EDE6DE9A-5076-4740-8125-7688B87506D4}" type="pres">
      <dgm:prSet presAssocID="{47ED2967-5DC1-4D5C-960D-913D1DA021D9}" presName="sibTrans" presStyleLbl="sibTrans2D1" presStyleIdx="0" presStyleCnt="5"/>
      <dgm:spPr/>
    </dgm:pt>
    <dgm:pt modelId="{2FAF2DD2-F5C5-40C0-B789-E71BD70AC53D}" type="pres">
      <dgm:prSet presAssocID="{47ED2967-5DC1-4D5C-960D-913D1DA021D9}" presName="connectorText" presStyleLbl="sibTrans2D1" presStyleIdx="0" presStyleCnt="5"/>
      <dgm:spPr/>
    </dgm:pt>
    <dgm:pt modelId="{A964AC98-0E30-4A6A-98DA-7E710EC7F51D}" type="pres">
      <dgm:prSet presAssocID="{044454B3-FFB6-4EA9-A7DB-F2F30B210894}" presName="node" presStyleLbl="node1" presStyleIdx="1" presStyleCnt="6" custScaleX="251258" custScaleY="270321">
        <dgm:presLayoutVars>
          <dgm:bulletEnabled val="1"/>
        </dgm:presLayoutVars>
      </dgm:prSet>
      <dgm:spPr/>
    </dgm:pt>
    <dgm:pt modelId="{A4621DFB-EE2C-4F74-AC5D-0AC4BAFD9720}" type="pres">
      <dgm:prSet presAssocID="{79832168-9B47-46A9-9CF6-F5FB8EC6C815}" presName="sibTrans" presStyleLbl="sibTrans2D1" presStyleIdx="1" presStyleCnt="5"/>
      <dgm:spPr/>
    </dgm:pt>
    <dgm:pt modelId="{FD98669F-6D94-47EA-928B-5A88AF2A290D}" type="pres">
      <dgm:prSet presAssocID="{79832168-9B47-46A9-9CF6-F5FB8EC6C815}" presName="connectorText" presStyleLbl="sibTrans2D1" presStyleIdx="1" presStyleCnt="5"/>
      <dgm:spPr/>
    </dgm:pt>
    <dgm:pt modelId="{D1E37450-E07C-4549-8D06-77BC8413EAF8}" type="pres">
      <dgm:prSet presAssocID="{B07845B5-E7C5-4F91-AF63-2950DAA5E7CD}" presName="node" presStyleLbl="node1" presStyleIdx="2" presStyleCnt="6" custScaleX="251258" custScaleY="278771">
        <dgm:presLayoutVars>
          <dgm:bulletEnabled val="1"/>
        </dgm:presLayoutVars>
      </dgm:prSet>
      <dgm:spPr/>
    </dgm:pt>
    <dgm:pt modelId="{64798BC8-416E-47DC-9CDC-9F83B1A0C5E6}" type="pres">
      <dgm:prSet presAssocID="{79580E5A-469B-492F-A60F-E9C40020DBE5}" presName="sibTrans" presStyleLbl="sibTrans2D1" presStyleIdx="2" presStyleCnt="5"/>
      <dgm:spPr/>
    </dgm:pt>
    <dgm:pt modelId="{B6A1F11F-645C-4714-AE93-FE0763DCACEF}" type="pres">
      <dgm:prSet presAssocID="{79580E5A-469B-492F-A60F-E9C40020DBE5}" presName="connectorText" presStyleLbl="sibTrans2D1" presStyleIdx="2" presStyleCnt="5"/>
      <dgm:spPr/>
    </dgm:pt>
    <dgm:pt modelId="{F13257A8-8280-4DA5-9C2B-698E6162D31A}" type="pres">
      <dgm:prSet presAssocID="{E6B8F0AB-65A8-43B2-A14E-652E890CBC9A}" presName="node" presStyleLbl="node1" presStyleIdx="3" presStyleCnt="6" custScaleX="234702" custScaleY="278771" custLinFactNeighborX="-8290" custLinFactNeighborY="1697">
        <dgm:presLayoutVars>
          <dgm:bulletEnabled val="1"/>
        </dgm:presLayoutVars>
      </dgm:prSet>
      <dgm:spPr/>
    </dgm:pt>
    <dgm:pt modelId="{DE3F1A64-1780-4FDC-B4B0-E2EDA1AAFA7F}" type="pres">
      <dgm:prSet presAssocID="{A0A89E4F-BD99-4264-B5A4-9872A00F5AC2}" presName="sibTrans" presStyleLbl="sibTrans2D1" presStyleIdx="3" presStyleCnt="5"/>
      <dgm:spPr/>
    </dgm:pt>
    <dgm:pt modelId="{61D5DE4C-A2E4-471F-BE09-D23B75C1C580}" type="pres">
      <dgm:prSet presAssocID="{A0A89E4F-BD99-4264-B5A4-9872A00F5AC2}" presName="connectorText" presStyleLbl="sibTrans2D1" presStyleIdx="3" presStyleCnt="5"/>
      <dgm:spPr/>
    </dgm:pt>
    <dgm:pt modelId="{CD45FEAF-DF5D-44BC-A039-C07E23CC27B6}" type="pres">
      <dgm:prSet presAssocID="{388DFF56-C60B-4714-9EC5-EA5C2C7EB33D}" presName="node" presStyleLbl="node1" presStyleIdx="4" presStyleCnt="6" custScaleX="238718" custScaleY="272492" custLinFactNeighborX="-11666" custLinFactNeighborY="-11644">
        <dgm:presLayoutVars>
          <dgm:bulletEnabled val="1"/>
        </dgm:presLayoutVars>
      </dgm:prSet>
      <dgm:spPr/>
    </dgm:pt>
    <dgm:pt modelId="{26535085-A51B-47D7-9B6A-C153E54CD5C8}" type="pres">
      <dgm:prSet presAssocID="{7CA8E927-1A85-46F2-8F56-4BFF1D95EFD1}" presName="sibTrans" presStyleLbl="sibTrans2D1" presStyleIdx="4" presStyleCnt="5"/>
      <dgm:spPr/>
    </dgm:pt>
    <dgm:pt modelId="{4326470F-EDF8-4B2C-89DD-37C837CD8DC3}" type="pres">
      <dgm:prSet presAssocID="{7CA8E927-1A85-46F2-8F56-4BFF1D95EFD1}" presName="connectorText" presStyleLbl="sibTrans2D1" presStyleIdx="4" presStyleCnt="5"/>
      <dgm:spPr/>
    </dgm:pt>
    <dgm:pt modelId="{89777303-6A05-4CAA-9B0D-45984680D0C1}" type="pres">
      <dgm:prSet presAssocID="{A7542135-5A74-4A15-85A8-356CBE365C59}" presName="node" presStyleLbl="node1" presStyleIdx="5" presStyleCnt="6" custScaleX="251258" custScaleY="278771" custLinFactNeighborX="14970" custLinFactNeighborY="-5060">
        <dgm:presLayoutVars>
          <dgm:bulletEnabled val="1"/>
        </dgm:presLayoutVars>
      </dgm:prSet>
      <dgm:spPr/>
    </dgm:pt>
  </dgm:ptLst>
  <dgm:cxnLst>
    <dgm:cxn modelId="{9998B617-2FDF-406A-987E-CEA6E8D2179F}" srcId="{9E22FEF0-7B13-4341-9BBA-1D63BA2987A8}" destId="{B07845B5-E7C5-4F91-AF63-2950DAA5E7CD}" srcOrd="2" destOrd="0" parTransId="{D166A201-7055-44E6-A4F8-52357B69E62C}" sibTransId="{79580E5A-469B-492F-A60F-E9C40020DBE5}"/>
    <dgm:cxn modelId="{0E725F18-AA20-418D-867B-17813511CB18}" type="presOf" srcId="{A0A89E4F-BD99-4264-B5A4-9872A00F5AC2}" destId="{DE3F1A64-1780-4FDC-B4B0-E2EDA1AAFA7F}" srcOrd="0" destOrd="0" presId="urn:microsoft.com/office/officeart/2005/8/layout/process5"/>
    <dgm:cxn modelId="{AE3EAF1B-5ABF-4E83-8C69-52FD2D48488C}" type="presOf" srcId="{E6B8F0AB-65A8-43B2-A14E-652E890CBC9A}" destId="{F13257A8-8280-4DA5-9C2B-698E6162D31A}" srcOrd="0" destOrd="0" presId="urn:microsoft.com/office/officeart/2005/8/layout/process5"/>
    <dgm:cxn modelId="{5F42D51F-A51B-4D7D-8DC2-7E7F9D1C2671}" type="presOf" srcId="{A0A89E4F-BD99-4264-B5A4-9872A00F5AC2}" destId="{61D5DE4C-A2E4-471F-BE09-D23B75C1C580}" srcOrd="1" destOrd="0" presId="urn:microsoft.com/office/officeart/2005/8/layout/process5"/>
    <dgm:cxn modelId="{64F2C432-AA38-4870-9248-319A6159807B}" type="presOf" srcId="{7CA8E927-1A85-46F2-8F56-4BFF1D95EFD1}" destId="{4326470F-EDF8-4B2C-89DD-37C837CD8DC3}" srcOrd="1" destOrd="0" presId="urn:microsoft.com/office/officeart/2005/8/layout/process5"/>
    <dgm:cxn modelId="{6CBB2D39-68C9-47C4-BE13-36DEFDA1EC06}" type="presOf" srcId="{9E22FEF0-7B13-4341-9BBA-1D63BA2987A8}" destId="{67FF1765-D4DE-40F8-81DF-8B5A697CE1CD}" srcOrd="0" destOrd="0" presId="urn:microsoft.com/office/officeart/2005/8/layout/process5"/>
    <dgm:cxn modelId="{101FF539-8F49-449D-BBC7-07E2131C6B7E}" type="presOf" srcId="{31DD57C3-B632-4695-8E60-AE34E030A4E1}" destId="{172483CB-83AA-48EE-BFA5-4290DC2FCC69}" srcOrd="0" destOrd="0" presId="urn:microsoft.com/office/officeart/2005/8/layout/process5"/>
    <dgm:cxn modelId="{88BB4C3A-5649-48EB-BD15-1AAB7356474A}" type="presOf" srcId="{79832168-9B47-46A9-9CF6-F5FB8EC6C815}" destId="{A4621DFB-EE2C-4F74-AC5D-0AC4BAFD9720}" srcOrd="0" destOrd="0" presId="urn:microsoft.com/office/officeart/2005/8/layout/process5"/>
    <dgm:cxn modelId="{86A3473F-2669-4F81-90F4-811A2F57575B}" type="presOf" srcId="{79580E5A-469B-492F-A60F-E9C40020DBE5}" destId="{B6A1F11F-645C-4714-AE93-FE0763DCACEF}" srcOrd="1" destOrd="0" presId="urn:microsoft.com/office/officeart/2005/8/layout/process5"/>
    <dgm:cxn modelId="{739BA846-3A47-4FE4-ACBD-99EE15DC0C23}" type="presOf" srcId="{388DFF56-C60B-4714-9EC5-EA5C2C7EB33D}" destId="{CD45FEAF-DF5D-44BC-A039-C07E23CC27B6}" srcOrd="0" destOrd="0" presId="urn:microsoft.com/office/officeart/2005/8/layout/process5"/>
    <dgm:cxn modelId="{C918F771-BA17-4088-B6A8-31FF275EE5F5}" type="presOf" srcId="{7CA8E927-1A85-46F2-8F56-4BFF1D95EFD1}" destId="{26535085-A51B-47D7-9B6A-C153E54CD5C8}" srcOrd="0" destOrd="0" presId="urn:microsoft.com/office/officeart/2005/8/layout/process5"/>
    <dgm:cxn modelId="{CC9E3A57-EF67-4DC8-B3E4-490651C3A6F7}" type="presOf" srcId="{B07845B5-E7C5-4F91-AF63-2950DAA5E7CD}" destId="{D1E37450-E07C-4549-8D06-77BC8413EAF8}" srcOrd="0" destOrd="0" presId="urn:microsoft.com/office/officeart/2005/8/layout/process5"/>
    <dgm:cxn modelId="{10A58359-ABF3-4465-B4CF-9B5E6E74BCB9}" type="presOf" srcId="{47ED2967-5DC1-4D5C-960D-913D1DA021D9}" destId="{EDE6DE9A-5076-4740-8125-7688B87506D4}" srcOrd="0" destOrd="0" presId="urn:microsoft.com/office/officeart/2005/8/layout/process5"/>
    <dgm:cxn modelId="{A5DF197C-3169-47B0-BFED-E77B08C17242}" type="presOf" srcId="{A7542135-5A74-4A15-85A8-356CBE365C59}" destId="{89777303-6A05-4CAA-9B0D-45984680D0C1}" srcOrd="0" destOrd="0" presId="urn:microsoft.com/office/officeart/2005/8/layout/process5"/>
    <dgm:cxn modelId="{1175F87C-E7D8-42C8-9DAE-AF59840D4485}" srcId="{9E22FEF0-7B13-4341-9BBA-1D63BA2987A8}" destId="{388DFF56-C60B-4714-9EC5-EA5C2C7EB33D}" srcOrd="4" destOrd="0" parTransId="{91CA7F40-9A00-4639-9507-3FDEB3585AEF}" sibTransId="{7CA8E927-1A85-46F2-8F56-4BFF1D95EFD1}"/>
    <dgm:cxn modelId="{57DF3F83-37F3-4D53-BAD5-851CBA2F3BB9}" type="presOf" srcId="{79580E5A-469B-492F-A60F-E9C40020DBE5}" destId="{64798BC8-416E-47DC-9CDC-9F83B1A0C5E6}" srcOrd="0" destOrd="0" presId="urn:microsoft.com/office/officeart/2005/8/layout/process5"/>
    <dgm:cxn modelId="{304A068F-095E-4642-8BA6-BF81D2D66EDC}" srcId="{9E22FEF0-7B13-4341-9BBA-1D63BA2987A8}" destId="{044454B3-FFB6-4EA9-A7DB-F2F30B210894}" srcOrd="1" destOrd="0" parTransId="{CB6BC845-E0B8-46F7-A6BA-9EE06626814D}" sibTransId="{79832168-9B47-46A9-9CF6-F5FB8EC6C815}"/>
    <dgm:cxn modelId="{447CE6A2-008A-407C-B66C-D656D79206E1}" type="presOf" srcId="{47ED2967-5DC1-4D5C-960D-913D1DA021D9}" destId="{2FAF2DD2-F5C5-40C0-B789-E71BD70AC53D}" srcOrd="1" destOrd="0" presId="urn:microsoft.com/office/officeart/2005/8/layout/process5"/>
    <dgm:cxn modelId="{C1E1A8BB-D9D4-4699-9DCF-6669E13E372A}" srcId="{9E22FEF0-7B13-4341-9BBA-1D63BA2987A8}" destId="{31DD57C3-B632-4695-8E60-AE34E030A4E1}" srcOrd="0" destOrd="0" parTransId="{02B057B7-292B-49E0-BDBD-9E83D15DCD30}" sibTransId="{47ED2967-5DC1-4D5C-960D-913D1DA021D9}"/>
    <dgm:cxn modelId="{737108BF-08E3-444E-A622-A1E28433D9A8}" srcId="{9E22FEF0-7B13-4341-9BBA-1D63BA2987A8}" destId="{E6B8F0AB-65A8-43B2-A14E-652E890CBC9A}" srcOrd="3" destOrd="0" parTransId="{4BCF8A39-D074-4A11-8F65-65BF335FE415}" sibTransId="{A0A89E4F-BD99-4264-B5A4-9872A00F5AC2}"/>
    <dgm:cxn modelId="{FE3638D8-6F94-4821-85A1-F925A28FB7DC}" type="presOf" srcId="{79832168-9B47-46A9-9CF6-F5FB8EC6C815}" destId="{FD98669F-6D94-47EA-928B-5A88AF2A290D}" srcOrd="1" destOrd="0" presId="urn:microsoft.com/office/officeart/2005/8/layout/process5"/>
    <dgm:cxn modelId="{351B34DB-4821-4473-BA1F-75DE23D80FE8}" type="presOf" srcId="{044454B3-FFB6-4EA9-A7DB-F2F30B210894}" destId="{A964AC98-0E30-4A6A-98DA-7E710EC7F51D}" srcOrd="0" destOrd="0" presId="urn:microsoft.com/office/officeart/2005/8/layout/process5"/>
    <dgm:cxn modelId="{A01296ED-CB78-4783-8048-7CD666D06543}" srcId="{9E22FEF0-7B13-4341-9BBA-1D63BA2987A8}" destId="{A7542135-5A74-4A15-85A8-356CBE365C59}" srcOrd="5" destOrd="0" parTransId="{91A06C88-094B-4771-B0F9-AC81A0945414}" sibTransId="{9B8D0F8D-6B6C-48AC-999A-E55A4475613E}"/>
    <dgm:cxn modelId="{892281BC-8B02-46BA-B526-28E108DA2336}" type="presParOf" srcId="{67FF1765-D4DE-40F8-81DF-8B5A697CE1CD}" destId="{172483CB-83AA-48EE-BFA5-4290DC2FCC69}" srcOrd="0" destOrd="0" presId="urn:microsoft.com/office/officeart/2005/8/layout/process5"/>
    <dgm:cxn modelId="{AB5CB8B3-820B-4975-B647-A33C87C97704}" type="presParOf" srcId="{67FF1765-D4DE-40F8-81DF-8B5A697CE1CD}" destId="{EDE6DE9A-5076-4740-8125-7688B87506D4}" srcOrd="1" destOrd="0" presId="urn:microsoft.com/office/officeart/2005/8/layout/process5"/>
    <dgm:cxn modelId="{A13FC8CA-BC11-4209-9436-4EA429AC52E6}" type="presParOf" srcId="{EDE6DE9A-5076-4740-8125-7688B87506D4}" destId="{2FAF2DD2-F5C5-40C0-B789-E71BD70AC53D}" srcOrd="0" destOrd="0" presId="urn:microsoft.com/office/officeart/2005/8/layout/process5"/>
    <dgm:cxn modelId="{76743546-8DB2-4742-AE02-7346499F5205}" type="presParOf" srcId="{67FF1765-D4DE-40F8-81DF-8B5A697CE1CD}" destId="{A964AC98-0E30-4A6A-98DA-7E710EC7F51D}" srcOrd="2" destOrd="0" presId="urn:microsoft.com/office/officeart/2005/8/layout/process5"/>
    <dgm:cxn modelId="{3DA60774-F5D9-44DB-9E31-07EE6DBB0CA9}" type="presParOf" srcId="{67FF1765-D4DE-40F8-81DF-8B5A697CE1CD}" destId="{A4621DFB-EE2C-4F74-AC5D-0AC4BAFD9720}" srcOrd="3" destOrd="0" presId="urn:microsoft.com/office/officeart/2005/8/layout/process5"/>
    <dgm:cxn modelId="{C058093B-BF03-4C86-98B0-2D195307C614}" type="presParOf" srcId="{A4621DFB-EE2C-4F74-AC5D-0AC4BAFD9720}" destId="{FD98669F-6D94-47EA-928B-5A88AF2A290D}" srcOrd="0" destOrd="0" presId="urn:microsoft.com/office/officeart/2005/8/layout/process5"/>
    <dgm:cxn modelId="{8B33B493-3358-4FCD-B366-DA97D66AD923}" type="presParOf" srcId="{67FF1765-D4DE-40F8-81DF-8B5A697CE1CD}" destId="{D1E37450-E07C-4549-8D06-77BC8413EAF8}" srcOrd="4" destOrd="0" presId="urn:microsoft.com/office/officeart/2005/8/layout/process5"/>
    <dgm:cxn modelId="{24BCEA68-3F9B-44CE-9319-B520CE1D415B}" type="presParOf" srcId="{67FF1765-D4DE-40F8-81DF-8B5A697CE1CD}" destId="{64798BC8-416E-47DC-9CDC-9F83B1A0C5E6}" srcOrd="5" destOrd="0" presId="urn:microsoft.com/office/officeart/2005/8/layout/process5"/>
    <dgm:cxn modelId="{A4ED65D8-5F13-4FAC-BD83-97BA47F3B648}" type="presParOf" srcId="{64798BC8-416E-47DC-9CDC-9F83B1A0C5E6}" destId="{B6A1F11F-645C-4714-AE93-FE0763DCACEF}" srcOrd="0" destOrd="0" presId="urn:microsoft.com/office/officeart/2005/8/layout/process5"/>
    <dgm:cxn modelId="{F0533C95-3F11-45A5-9E9B-D0A4DA5A084D}" type="presParOf" srcId="{67FF1765-D4DE-40F8-81DF-8B5A697CE1CD}" destId="{F13257A8-8280-4DA5-9C2B-698E6162D31A}" srcOrd="6" destOrd="0" presId="urn:microsoft.com/office/officeart/2005/8/layout/process5"/>
    <dgm:cxn modelId="{D8F63AD2-3E61-4107-B146-3440465F1C60}" type="presParOf" srcId="{67FF1765-D4DE-40F8-81DF-8B5A697CE1CD}" destId="{DE3F1A64-1780-4FDC-B4B0-E2EDA1AAFA7F}" srcOrd="7" destOrd="0" presId="urn:microsoft.com/office/officeart/2005/8/layout/process5"/>
    <dgm:cxn modelId="{985CA2EF-B146-44E0-846E-AE8B8E8C8E2C}" type="presParOf" srcId="{DE3F1A64-1780-4FDC-B4B0-E2EDA1AAFA7F}" destId="{61D5DE4C-A2E4-471F-BE09-D23B75C1C580}" srcOrd="0" destOrd="0" presId="urn:microsoft.com/office/officeart/2005/8/layout/process5"/>
    <dgm:cxn modelId="{85D895F5-1C31-403E-ABDF-AEB43FF18B26}" type="presParOf" srcId="{67FF1765-D4DE-40F8-81DF-8B5A697CE1CD}" destId="{CD45FEAF-DF5D-44BC-A039-C07E23CC27B6}" srcOrd="8" destOrd="0" presId="urn:microsoft.com/office/officeart/2005/8/layout/process5"/>
    <dgm:cxn modelId="{766F672C-3530-4693-89F1-E568A49A3314}" type="presParOf" srcId="{67FF1765-D4DE-40F8-81DF-8B5A697CE1CD}" destId="{26535085-A51B-47D7-9B6A-C153E54CD5C8}" srcOrd="9" destOrd="0" presId="urn:microsoft.com/office/officeart/2005/8/layout/process5"/>
    <dgm:cxn modelId="{A791F6F7-45AA-46DA-BB77-1AA69C2EE384}" type="presParOf" srcId="{26535085-A51B-47D7-9B6A-C153E54CD5C8}" destId="{4326470F-EDF8-4B2C-89DD-37C837CD8DC3}" srcOrd="0" destOrd="0" presId="urn:microsoft.com/office/officeart/2005/8/layout/process5"/>
    <dgm:cxn modelId="{312D5A6C-2382-43AA-8453-1218DE06E16A}" type="presParOf" srcId="{67FF1765-D4DE-40F8-81DF-8B5A697CE1CD}" destId="{89777303-6A05-4CAA-9B0D-45984680D0C1}" srcOrd="10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2483CB-83AA-48EE-BFA5-4290DC2FCC69}">
      <dsp:nvSpPr>
        <dsp:cNvPr id="0" name=""/>
        <dsp:cNvSpPr/>
      </dsp:nvSpPr>
      <dsp:spPr>
        <a:xfrm>
          <a:off x="44941" y="1106"/>
          <a:ext cx="3622404" cy="241143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kern="1200">
              <a:latin typeface="Times New Roman" panose="02020603050405020304" pitchFamily="18" charset="0"/>
              <a:cs typeface="Times New Roman" panose="02020603050405020304" pitchFamily="18" charset="0"/>
            </a:rPr>
            <a:t>1. Full signals are segmented into time windows of 100 steps.</a:t>
          </a:r>
        </a:p>
      </dsp:txBody>
      <dsp:txXfrm>
        <a:off x="115570" y="71735"/>
        <a:ext cx="3481146" cy="2270178"/>
      </dsp:txXfrm>
    </dsp:sp>
    <dsp:sp modelId="{EDE6DE9A-5076-4740-8125-7688B87506D4}">
      <dsp:nvSpPr>
        <dsp:cNvPr id="0" name=""/>
        <dsp:cNvSpPr/>
      </dsp:nvSpPr>
      <dsp:spPr>
        <a:xfrm>
          <a:off x="3794216" y="1028053"/>
          <a:ext cx="305641" cy="357543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3794216" y="1099562"/>
        <a:ext cx="213949" cy="214525"/>
      </dsp:txXfrm>
    </dsp:sp>
    <dsp:sp modelId="{A964AC98-0E30-4A6A-98DA-7E710EC7F51D}">
      <dsp:nvSpPr>
        <dsp:cNvPr id="0" name=""/>
        <dsp:cNvSpPr/>
      </dsp:nvSpPr>
      <dsp:spPr>
        <a:xfrm>
          <a:off x="4244029" y="37653"/>
          <a:ext cx="3622404" cy="2338342"/>
        </a:xfrm>
        <a:prstGeom prst="roundRect">
          <a:avLst>
            <a:gd name="adj" fmla="val 10000"/>
          </a:avLst>
        </a:prstGeom>
        <a:solidFill>
          <a:schemeClr val="accent3">
            <a:hueOff val="542120"/>
            <a:satOff val="20000"/>
            <a:lumOff val="-29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kern="1200">
              <a:latin typeface="Times New Roman" panose="02020603050405020304" pitchFamily="18" charset="0"/>
              <a:cs typeface="Times New Roman" panose="02020603050405020304" pitchFamily="18" charset="0"/>
            </a:rPr>
            <a:t>2. Time windows are transformed into the frequency domain with Fast Fourier Transform</a:t>
          </a:r>
        </a:p>
      </dsp:txBody>
      <dsp:txXfrm>
        <a:off x="4312517" y="106141"/>
        <a:ext cx="3485428" cy="2201366"/>
      </dsp:txXfrm>
    </dsp:sp>
    <dsp:sp modelId="{A4621DFB-EE2C-4F74-AC5D-0AC4BAFD9720}">
      <dsp:nvSpPr>
        <dsp:cNvPr id="0" name=""/>
        <dsp:cNvSpPr/>
      </dsp:nvSpPr>
      <dsp:spPr>
        <a:xfrm rot="5400000">
          <a:off x="5892725" y="2494641"/>
          <a:ext cx="325011" cy="357543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677650"/>
            <a:satOff val="25000"/>
            <a:lumOff val="-367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 rot="-5400000">
        <a:off x="5947968" y="2510908"/>
        <a:ext cx="214525" cy="227508"/>
      </dsp:txXfrm>
    </dsp:sp>
    <dsp:sp modelId="{D1E37450-E07C-4549-8D06-77BC8413EAF8}">
      <dsp:nvSpPr>
        <dsp:cNvPr id="0" name=""/>
        <dsp:cNvSpPr/>
      </dsp:nvSpPr>
      <dsp:spPr>
        <a:xfrm>
          <a:off x="4244029" y="2989226"/>
          <a:ext cx="3622404" cy="2411436"/>
        </a:xfrm>
        <a:prstGeom prst="roundRect">
          <a:avLst>
            <a:gd name="adj" fmla="val 10000"/>
          </a:avLst>
        </a:prstGeom>
        <a:solidFill>
          <a:schemeClr val="accent3">
            <a:hueOff val="1084240"/>
            <a:satOff val="40000"/>
            <a:lumOff val="-58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3. Statistical features are extracted from the frequency domains of each window.</a:t>
          </a:r>
        </a:p>
      </dsp:txBody>
      <dsp:txXfrm>
        <a:off x="4314658" y="3059855"/>
        <a:ext cx="3481146" cy="2270178"/>
      </dsp:txXfrm>
    </dsp:sp>
    <dsp:sp modelId="{64798BC8-416E-47DC-9CDC-9F83B1A0C5E6}">
      <dsp:nvSpPr>
        <dsp:cNvPr id="0" name=""/>
        <dsp:cNvSpPr/>
      </dsp:nvSpPr>
      <dsp:spPr>
        <a:xfrm rot="10787983">
          <a:off x="3721878" y="4023685"/>
          <a:ext cx="368988" cy="357543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1355300"/>
            <a:satOff val="50000"/>
            <a:lumOff val="-735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 rot="10800000">
        <a:off x="3829141" y="4095007"/>
        <a:ext cx="261725" cy="214525"/>
      </dsp:txXfrm>
    </dsp:sp>
    <dsp:sp modelId="{F13257A8-8280-4DA5-9C2B-698E6162D31A}">
      <dsp:nvSpPr>
        <dsp:cNvPr id="0" name=""/>
        <dsp:cNvSpPr/>
      </dsp:nvSpPr>
      <dsp:spPr>
        <a:xfrm>
          <a:off x="164113" y="3003905"/>
          <a:ext cx="3383715" cy="2411436"/>
        </a:xfrm>
        <a:prstGeom prst="roundRect">
          <a:avLst>
            <a:gd name="adj" fmla="val 10000"/>
          </a:avLst>
        </a:prstGeom>
        <a:solidFill>
          <a:schemeClr val="accent3">
            <a:hueOff val="1626359"/>
            <a:satOff val="60000"/>
            <a:lumOff val="-882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4. New dataset is split into train sets (80%) and test sets (20%).</a:t>
          </a:r>
        </a:p>
      </dsp:txBody>
      <dsp:txXfrm>
        <a:off x="234742" y="3074534"/>
        <a:ext cx="3242457" cy="2270178"/>
      </dsp:txXfrm>
    </dsp:sp>
    <dsp:sp modelId="{DE3F1A64-1780-4FDC-B4B0-E2EDA1AAFA7F}">
      <dsp:nvSpPr>
        <dsp:cNvPr id="0" name=""/>
        <dsp:cNvSpPr/>
      </dsp:nvSpPr>
      <dsp:spPr>
        <a:xfrm rot="5423601">
          <a:off x="1716628" y="5473463"/>
          <a:ext cx="258877" cy="357543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2032949"/>
            <a:satOff val="75000"/>
            <a:lumOff val="-11029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 rot="-5400000">
        <a:off x="1739071" y="5522796"/>
        <a:ext cx="214525" cy="181214"/>
      </dsp:txXfrm>
    </dsp:sp>
    <dsp:sp modelId="{CD45FEAF-DF5D-44BC-A039-C07E23CC27B6}">
      <dsp:nvSpPr>
        <dsp:cNvPr id="0" name=""/>
        <dsp:cNvSpPr/>
      </dsp:nvSpPr>
      <dsp:spPr>
        <a:xfrm>
          <a:off x="115441" y="5903780"/>
          <a:ext cx="3441614" cy="2357122"/>
        </a:xfrm>
        <a:prstGeom prst="roundRect">
          <a:avLst>
            <a:gd name="adj" fmla="val 10000"/>
          </a:avLst>
        </a:prstGeom>
        <a:solidFill>
          <a:schemeClr val="accent3">
            <a:hueOff val="2168479"/>
            <a:satOff val="80000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5. Classifiers are trained with different ML algorithms.</a:t>
          </a:r>
        </a:p>
      </dsp:txBody>
      <dsp:txXfrm>
        <a:off x="184479" y="5972818"/>
        <a:ext cx="3303538" cy="2219046"/>
      </dsp:txXfrm>
    </dsp:sp>
    <dsp:sp modelId="{26535085-A51B-47D7-9B6A-C153E54CD5C8}">
      <dsp:nvSpPr>
        <dsp:cNvPr id="0" name=""/>
        <dsp:cNvSpPr/>
      </dsp:nvSpPr>
      <dsp:spPr>
        <a:xfrm rot="45300">
          <a:off x="3730796" y="6931294"/>
          <a:ext cx="418637" cy="357543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3730801" y="7002096"/>
        <a:ext cx="311374" cy="214525"/>
      </dsp:txXfrm>
    </dsp:sp>
    <dsp:sp modelId="{89777303-6A05-4CAA-9B0D-45984680D0C1}">
      <dsp:nvSpPr>
        <dsp:cNvPr id="0" name=""/>
        <dsp:cNvSpPr/>
      </dsp:nvSpPr>
      <dsp:spPr>
        <a:xfrm>
          <a:off x="4346870" y="5933576"/>
          <a:ext cx="3622404" cy="2411436"/>
        </a:xfrm>
        <a:prstGeom prst="roundRect">
          <a:avLst>
            <a:gd name="adj" fmla="val 10000"/>
          </a:avLst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Performance of all classifiers with various parameters are evaluated with test sets.</a:t>
          </a:r>
        </a:p>
      </dsp:txBody>
      <dsp:txXfrm>
        <a:off x="4417499" y="6004205"/>
        <a:ext cx="3481146" cy="22701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1840" y="5387342"/>
            <a:ext cx="37307520" cy="11460480"/>
          </a:xfrm>
        </p:spPr>
        <p:txBody>
          <a:bodyPr anchor="b"/>
          <a:lstStyle>
            <a:lvl1pPr algn="ctr">
              <a:defRPr sz="28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17289782"/>
            <a:ext cx="32918400" cy="7947658"/>
          </a:xfrm>
        </p:spPr>
        <p:txBody>
          <a:bodyPr/>
          <a:lstStyle>
            <a:lvl1pPr marL="0" indent="0" algn="ctr">
              <a:buNone/>
              <a:defRPr sz="11520"/>
            </a:lvl1pPr>
            <a:lvl2pPr marL="2194560" indent="0" algn="ctr">
              <a:buNone/>
              <a:defRPr sz="9600"/>
            </a:lvl2pPr>
            <a:lvl3pPr marL="4389120" indent="0" algn="ctr">
              <a:buNone/>
              <a:defRPr sz="8640"/>
            </a:lvl3pPr>
            <a:lvl4pPr marL="6583680" indent="0" algn="ctr">
              <a:buNone/>
              <a:defRPr sz="7680"/>
            </a:lvl4pPr>
            <a:lvl5pPr marL="8778240" indent="0" algn="ctr">
              <a:buNone/>
              <a:defRPr sz="7680"/>
            </a:lvl5pPr>
            <a:lvl6pPr marL="10972800" indent="0" algn="ctr">
              <a:buNone/>
              <a:defRPr sz="7680"/>
            </a:lvl6pPr>
            <a:lvl7pPr marL="13167360" indent="0" algn="ctr">
              <a:buNone/>
              <a:defRPr sz="7680"/>
            </a:lvl7pPr>
            <a:lvl8pPr marL="15361920" indent="0" algn="ctr">
              <a:buNone/>
              <a:defRPr sz="7680"/>
            </a:lvl8pPr>
            <a:lvl9pPr marL="17556480" indent="0" algn="ctr">
              <a:buNone/>
              <a:defRPr sz="768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481D-26F5-45D5-AB7A-8473E4BD8352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292E4-A6DA-4F86-8F30-200338560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468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481D-26F5-45D5-AB7A-8473E4BD8352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292E4-A6DA-4F86-8F30-200338560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866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4662" y="8206749"/>
            <a:ext cx="37856160" cy="13693138"/>
          </a:xfrm>
        </p:spPr>
        <p:txBody>
          <a:bodyPr anchor="b"/>
          <a:lstStyle>
            <a:lvl1pPr>
              <a:defRPr sz="28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94662" y="22029429"/>
            <a:ext cx="37856160" cy="7200898"/>
          </a:xfrm>
        </p:spPr>
        <p:txBody>
          <a:bodyPr/>
          <a:lstStyle>
            <a:lvl1pPr marL="0" indent="0">
              <a:buNone/>
              <a:defRPr sz="11520">
                <a:solidFill>
                  <a:schemeClr val="tx1"/>
                </a:solidFill>
              </a:defRPr>
            </a:lvl1pPr>
            <a:lvl2pPr marL="2194560" indent="0">
              <a:buNone/>
              <a:defRPr sz="9600">
                <a:solidFill>
                  <a:schemeClr val="tx1">
                    <a:tint val="75000"/>
                  </a:schemeClr>
                </a:solidFill>
              </a:defRPr>
            </a:lvl2pPr>
            <a:lvl3pPr marL="4389120" indent="0">
              <a:buNone/>
              <a:defRPr sz="8640">
                <a:solidFill>
                  <a:schemeClr val="tx1">
                    <a:tint val="75000"/>
                  </a:schemeClr>
                </a:solidFill>
              </a:defRPr>
            </a:lvl3pPr>
            <a:lvl4pPr marL="658368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4pPr>
            <a:lvl5pPr marL="877824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481D-26F5-45D5-AB7A-8473E4BD8352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292E4-A6DA-4F86-8F30-200338560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181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175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2199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481D-26F5-45D5-AB7A-8473E4BD8352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292E4-A6DA-4F86-8F30-200338560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181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1752607"/>
            <a:ext cx="37856160" cy="636270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23242" y="8069582"/>
            <a:ext cx="18568032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23242" y="12024360"/>
            <a:ext cx="18568032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19922" y="8069582"/>
            <a:ext cx="18659477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19922" y="12024360"/>
            <a:ext cx="18659477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481D-26F5-45D5-AB7A-8473E4BD8352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292E4-A6DA-4F86-8F30-200338560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069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481D-26F5-45D5-AB7A-8473E4BD8352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292E4-A6DA-4F86-8F30-200338560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761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481D-26F5-45D5-AB7A-8473E4BD8352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292E4-A6DA-4F86-8F30-200338560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334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59477" y="4739647"/>
            <a:ext cx="22219920" cy="23393400"/>
          </a:xfrm>
        </p:spPr>
        <p:txBody>
          <a:bodyPr/>
          <a:lstStyle>
            <a:lvl1pPr>
              <a:defRPr sz="15360"/>
            </a:lvl1pPr>
            <a:lvl2pPr>
              <a:defRPr sz="13440"/>
            </a:lvl2pPr>
            <a:lvl3pPr>
              <a:defRPr sz="11520"/>
            </a:lvl3pPr>
            <a:lvl4pPr>
              <a:defRPr sz="9600"/>
            </a:lvl4pPr>
            <a:lvl5pPr>
              <a:defRPr sz="9600"/>
            </a:lvl5pPr>
            <a:lvl6pPr>
              <a:defRPr sz="9600"/>
            </a:lvl6pPr>
            <a:lvl7pPr>
              <a:defRPr sz="9600"/>
            </a:lvl7pPr>
            <a:lvl8pPr>
              <a:defRPr sz="9600"/>
            </a:lvl8pPr>
            <a:lvl9pPr>
              <a:defRPr sz="9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481D-26F5-45D5-AB7A-8473E4BD8352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292E4-A6DA-4F86-8F30-200338560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573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659477" y="4739647"/>
            <a:ext cx="22219920" cy="23393400"/>
          </a:xfrm>
        </p:spPr>
        <p:txBody>
          <a:bodyPr anchor="t"/>
          <a:lstStyle>
            <a:lvl1pPr marL="0" indent="0">
              <a:buNone/>
              <a:defRPr sz="15360"/>
            </a:lvl1pPr>
            <a:lvl2pPr marL="2194560" indent="0">
              <a:buNone/>
              <a:defRPr sz="13440"/>
            </a:lvl2pPr>
            <a:lvl3pPr marL="4389120" indent="0">
              <a:buNone/>
              <a:defRPr sz="11520"/>
            </a:lvl3pPr>
            <a:lvl4pPr marL="6583680" indent="0">
              <a:buNone/>
              <a:defRPr sz="9600"/>
            </a:lvl4pPr>
            <a:lvl5pPr marL="8778240" indent="0">
              <a:buNone/>
              <a:defRPr sz="9600"/>
            </a:lvl5pPr>
            <a:lvl6pPr marL="10972800" indent="0">
              <a:buNone/>
              <a:defRPr sz="9600"/>
            </a:lvl6pPr>
            <a:lvl7pPr marL="13167360" indent="0">
              <a:buNone/>
              <a:defRPr sz="9600"/>
            </a:lvl7pPr>
            <a:lvl8pPr marL="15361920" indent="0">
              <a:buNone/>
              <a:defRPr sz="9600"/>
            </a:lvl8pPr>
            <a:lvl9pPr marL="17556480" indent="0">
              <a:buNone/>
              <a:defRPr sz="9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481D-26F5-45D5-AB7A-8473E4BD8352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292E4-A6DA-4F86-8F30-200338560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764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481D-26F5-45D5-AB7A-8473E4BD8352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292E4-A6DA-4F86-8F30-200338560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541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409642" y="1752600"/>
            <a:ext cx="9464040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17522" y="1752600"/>
            <a:ext cx="27843480" cy="2789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481D-26F5-45D5-AB7A-8473E4BD8352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292E4-A6DA-4F86-8F30-200338560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833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0" y="8763000"/>
            <a:ext cx="3785616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11481D-26F5-45D5-AB7A-8473E4BD8352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1292E4-A6DA-4F86-8F30-200338560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688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389120" rtl="0" eaLnBrk="1" latinLnBrk="0" hangingPunct="1">
        <a:lnSpc>
          <a:spcPct val="90000"/>
        </a:lnSpc>
        <a:spcBef>
          <a:spcPct val="0"/>
        </a:spcBef>
        <a:buNone/>
        <a:defRPr sz="211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97280" indent="-1097280" algn="l" defTabSz="4389120" rtl="0" eaLnBrk="1" latinLnBrk="0" hangingPunct="1">
        <a:lnSpc>
          <a:spcPct val="90000"/>
        </a:lnSpc>
        <a:spcBef>
          <a:spcPts val="4800"/>
        </a:spcBef>
        <a:buFont typeface="Arial" panose="020B0604020202020204" pitchFamily="34" charset="0"/>
        <a:buChar char="•"/>
        <a:defRPr sz="13440" kern="1200">
          <a:solidFill>
            <a:schemeClr val="tx1"/>
          </a:solidFill>
          <a:latin typeface="+mn-lt"/>
          <a:ea typeface="+mn-ea"/>
          <a:cs typeface="+mn-cs"/>
        </a:defRPr>
      </a:lvl1pPr>
      <a:lvl2pPr marL="32918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1152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987552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6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64592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7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13" Type="http://schemas.openxmlformats.org/officeDocument/2006/relationships/image" Target="../media/image5.png"/><Relationship Id="rId3" Type="http://schemas.openxmlformats.org/officeDocument/2006/relationships/image" Target="../media/image2.jpeg"/><Relationship Id="rId7" Type="http://schemas.openxmlformats.org/officeDocument/2006/relationships/diagramColors" Target="../diagrams/colors1.xml"/><Relationship Id="rId12" Type="http://schemas.openxmlformats.org/officeDocument/2006/relationships/hyperlink" Target="https://doi.org/10.1115/1.4029823" TargetMode="External"/><Relationship Id="rId17" Type="http://schemas.openxmlformats.org/officeDocument/2006/relationships/image" Target="../media/image8.png"/><Relationship Id="rId2" Type="http://schemas.openxmlformats.org/officeDocument/2006/relationships/image" Target="../media/image1.png"/><Relationship Id="rId16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11" Type="http://schemas.openxmlformats.org/officeDocument/2006/relationships/hyperlink" Target="https://doi.org/10.1016/j.addma.2020.101749" TargetMode="External"/><Relationship Id="rId5" Type="http://schemas.openxmlformats.org/officeDocument/2006/relationships/diagramLayout" Target="../diagrams/layout1.xml"/><Relationship Id="rId15" Type="http://schemas.openxmlformats.org/officeDocument/2006/relationships/hyperlink" Target="https://github.com/ezy-8/InfillPatternClassifier_FFF" TargetMode="External"/><Relationship Id="rId10" Type="http://schemas.openxmlformats.org/officeDocument/2006/relationships/image" Target="../media/image4.png"/><Relationship Id="rId4" Type="http://schemas.openxmlformats.org/officeDocument/2006/relationships/diagramData" Target="../diagrams/data1.xml"/><Relationship Id="rId9" Type="http://schemas.openxmlformats.org/officeDocument/2006/relationships/image" Target="../media/image3.jpeg"/><Relationship Id="rId1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A8C70C5-1577-4C82-B0CD-CD674027D38B}"/>
              </a:ext>
            </a:extLst>
          </p:cNvPr>
          <p:cNvSpPr/>
          <p:nvPr/>
        </p:nvSpPr>
        <p:spPr>
          <a:xfrm>
            <a:off x="11314176" y="501444"/>
            <a:ext cx="32119824" cy="3756231"/>
          </a:xfrm>
          <a:prstGeom prst="rect">
            <a:avLst/>
          </a:prstGeom>
          <a:solidFill>
            <a:srgbClr val="5D17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 anchorCtr="0"/>
          <a:lstStyle/>
          <a:p>
            <a:pPr algn="ctr"/>
            <a:r>
              <a:rPr lang="en-US" sz="5400" b="1" dirty="0">
                <a:latin typeface="Arial"/>
                <a:cs typeface="Arial"/>
              </a:rPr>
              <a:t>Infill Pattern Classification of Fused Filament Fabricated Components from Vibro-acoustic Signals with Machine Learning Algorithms</a:t>
            </a:r>
          </a:p>
          <a:p>
            <a:pPr algn="ctr"/>
            <a:endParaRPr lang="en-US" sz="1600" b="1" dirty="0">
              <a:latin typeface="Arial"/>
              <a:cs typeface="Arial"/>
            </a:endParaRPr>
          </a:p>
          <a:p>
            <a:pPr algn="ctr"/>
            <a:r>
              <a:rPr lang="en-US" sz="4000" b="1" dirty="0">
                <a:latin typeface="Arial"/>
                <a:cs typeface="Arial"/>
              </a:rPr>
              <a:t>Andrew Jennings, Dongmin (Ethan) Kang, William Kalahar, and Minan Li</a:t>
            </a:r>
            <a:endParaRPr lang="en-US" dirty="0"/>
          </a:p>
          <a:p>
            <a:pPr algn="ctr"/>
            <a:r>
              <a:rPr lang="en-US" sz="4000" b="1" dirty="0">
                <a:latin typeface="Arial"/>
                <a:cs typeface="Arial"/>
              </a:rPr>
              <a:t>I</a:t>
            </a:r>
            <a:r>
              <a:rPr lang="en-US" sz="4000" b="1" dirty="0">
                <a:latin typeface="Arial"/>
                <a:ea typeface="+mn-lt"/>
                <a:cs typeface="Arial"/>
              </a:rPr>
              <a:t>nstructor: Wenmeng Tian, Ph.D.</a:t>
            </a:r>
            <a:endParaRPr lang="en-US" sz="4000" b="1" dirty="0">
              <a:latin typeface="Arial"/>
              <a:cs typeface="Arial"/>
            </a:endParaRPr>
          </a:p>
          <a:p>
            <a:pPr algn="ctr"/>
            <a:r>
              <a:rPr lang="en-US" sz="4000" b="1" dirty="0">
                <a:latin typeface="Arial"/>
                <a:cs typeface="Arial"/>
              </a:rPr>
              <a:t>Department of Industrial &amp; Systems Engineering, Mississippi State University</a:t>
            </a:r>
            <a:endParaRPr lang="en-US" sz="3600" b="1" dirty="0">
              <a:latin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78642F-9FB3-41C7-A31D-1100897A1E06}"/>
              </a:ext>
            </a:extLst>
          </p:cNvPr>
          <p:cNvSpPr/>
          <p:nvPr/>
        </p:nvSpPr>
        <p:spPr>
          <a:xfrm>
            <a:off x="457200" y="4836694"/>
            <a:ext cx="10405872" cy="2780292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1E00E16-ACDD-427E-8A7A-A9584FB281DE}"/>
              </a:ext>
            </a:extLst>
          </p:cNvPr>
          <p:cNvSpPr/>
          <p:nvPr/>
        </p:nvSpPr>
        <p:spPr>
          <a:xfrm>
            <a:off x="33028128" y="4752474"/>
            <a:ext cx="10405872" cy="2788714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CCEEA99E-8334-41F8-9FED-2EFA53449E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7300" y="544767"/>
            <a:ext cx="8686800" cy="3583054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FD9AB3E-185C-4461-BE1E-468E813EF4B5}"/>
              </a:ext>
            </a:extLst>
          </p:cNvPr>
          <p:cNvSpPr/>
          <p:nvPr/>
        </p:nvSpPr>
        <p:spPr>
          <a:xfrm>
            <a:off x="457200" y="4733801"/>
            <a:ext cx="10405872" cy="1371600"/>
          </a:xfrm>
          <a:prstGeom prst="rect">
            <a:avLst/>
          </a:prstGeom>
          <a:solidFill>
            <a:srgbClr val="5D172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>
                <a:latin typeface="Arial" panose="020B0604020202020204" pitchFamily="34" charset="0"/>
                <a:cs typeface="Arial" panose="020B0604020202020204" pitchFamily="34" charset="0"/>
              </a:rPr>
              <a:t>Objectives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A743A7E-217C-46F1-80A5-47AB1696F560}"/>
              </a:ext>
            </a:extLst>
          </p:cNvPr>
          <p:cNvSpPr/>
          <p:nvPr/>
        </p:nvSpPr>
        <p:spPr>
          <a:xfrm>
            <a:off x="445919" y="19809297"/>
            <a:ext cx="10405872" cy="1371600"/>
          </a:xfrm>
          <a:prstGeom prst="rect">
            <a:avLst/>
          </a:prstGeom>
          <a:solidFill>
            <a:srgbClr val="5D172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4800" b="1">
                <a:latin typeface="Arial"/>
                <a:cs typeface="Arial"/>
              </a:rPr>
              <a:t>Sensor Selection 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207A1FE-923E-4210-8AFB-5C7561C91831}"/>
              </a:ext>
            </a:extLst>
          </p:cNvPr>
          <p:cNvSpPr/>
          <p:nvPr/>
        </p:nvSpPr>
        <p:spPr>
          <a:xfrm>
            <a:off x="33028128" y="4733801"/>
            <a:ext cx="10405872" cy="1371600"/>
          </a:xfrm>
          <a:prstGeom prst="rect">
            <a:avLst/>
          </a:prstGeom>
          <a:solidFill>
            <a:srgbClr val="5D172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4800" b="1">
                <a:latin typeface="Arial"/>
                <a:cs typeface="Arial"/>
              </a:rPr>
              <a:t>Results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58DBB1-8520-45AC-9338-94312089D321}"/>
              </a:ext>
            </a:extLst>
          </p:cNvPr>
          <p:cNvSpPr/>
          <p:nvPr/>
        </p:nvSpPr>
        <p:spPr>
          <a:xfrm>
            <a:off x="33028128" y="19841911"/>
            <a:ext cx="10405872" cy="1371600"/>
          </a:xfrm>
          <a:prstGeom prst="rect">
            <a:avLst/>
          </a:prstGeom>
          <a:solidFill>
            <a:srgbClr val="5D172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>
                <a:latin typeface="Arial" panose="020B0604020202020204" pitchFamily="34" charset="0"/>
                <a:cs typeface="Arial" panose="020B0604020202020204" pitchFamily="34" charset="0"/>
              </a:rPr>
              <a:t>Conclusions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51C77F-10BB-4E6A-9909-9126F97FBC15}"/>
              </a:ext>
            </a:extLst>
          </p:cNvPr>
          <p:cNvSpPr/>
          <p:nvPr/>
        </p:nvSpPr>
        <p:spPr>
          <a:xfrm>
            <a:off x="11311132" y="4733801"/>
            <a:ext cx="21221136" cy="1371600"/>
          </a:xfrm>
          <a:prstGeom prst="rect">
            <a:avLst/>
          </a:prstGeom>
          <a:solidFill>
            <a:srgbClr val="5D172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>
                <a:latin typeface="Arial" panose="020B0604020202020204" pitchFamily="34" charset="0"/>
                <a:cs typeface="Arial" panose="020B0604020202020204" pitchFamily="34" charset="0"/>
              </a:rPr>
              <a:t>Sensor Allocation and Experimental Setup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A8BA15B-A88E-4301-B2D7-492553D34EDB}"/>
              </a:ext>
            </a:extLst>
          </p:cNvPr>
          <p:cNvSpPr txBox="1"/>
          <p:nvPr/>
        </p:nvSpPr>
        <p:spPr>
          <a:xfrm>
            <a:off x="764458" y="22253188"/>
            <a:ext cx="985192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marR="0" indent="-5715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3200" b="1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55AD09B-260F-A3E1-D9B4-0C68C24967B9}"/>
              </a:ext>
            </a:extLst>
          </p:cNvPr>
          <p:cNvSpPr/>
          <p:nvPr/>
        </p:nvSpPr>
        <p:spPr>
          <a:xfrm>
            <a:off x="11311132" y="5981154"/>
            <a:ext cx="21221135" cy="2665320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F4E31AE-C188-63ED-19F3-863ECD00558B}"/>
              </a:ext>
            </a:extLst>
          </p:cNvPr>
          <p:cNvSpPr txBox="1"/>
          <p:nvPr/>
        </p:nvSpPr>
        <p:spPr>
          <a:xfrm>
            <a:off x="764457" y="21436652"/>
            <a:ext cx="985192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buFont typeface="Wingdings" panose="05000000000000000000" pitchFamily="2" charset="2"/>
              <a:buChar char="§"/>
            </a:pPr>
            <a:r>
              <a:rPr lang="en-US" sz="4000" b="1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Vibration: </a:t>
            </a:r>
            <a:r>
              <a:rPr lang="en-US" sz="4000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GY-521 MPU-6050 three axis accelerometer (</a:t>
            </a:r>
            <a:r>
              <a:rPr lang="en-US" sz="4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</a:t>
            </a:r>
            <a:r>
              <a:rPr lang="en-US" sz="4000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channel each)</a:t>
            </a:r>
          </a:p>
          <a:p>
            <a:pPr marL="571500" indent="-571500" algn="just">
              <a:buFont typeface="Wingdings" panose="05000000000000000000" pitchFamily="2" charset="2"/>
              <a:buChar char="§"/>
            </a:pPr>
            <a:r>
              <a:rPr lang="en-US" sz="4000" b="1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Acoustic: </a:t>
            </a:r>
            <a:r>
              <a:rPr lang="en-US" sz="4000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SY-M213 high sensitivity microphone (two analog channels)</a:t>
            </a:r>
            <a:endParaRPr lang="en-US" sz="400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D17194A-5461-71AC-43D8-72EF619BA204}"/>
              </a:ext>
            </a:extLst>
          </p:cNvPr>
          <p:cNvSpPr/>
          <p:nvPr/>
        </p:nvSpPr>
        <p:spPr>
          <a:xfrm>
            <a:off x="11269420" y="19831656"/>
            <a:ext cx="21262848" cy="1371600"/>
          </a:xfrm>
          <a:prstGeom prst="rect">
            <a:avLst/>
          </a:prstGeom>
          <a:solidFill>
            <a:srgbClr val="5D172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4800" b="1">
                <a:latin typeface="Arial"/>
                <a:cs typeface="Arial"/>
              </a:rPr>
              <a:t>Model Framework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AC6204F-573C-5F07-68EF-3A749FAA58BB}"/>
              </a:ext>
            </a:extLst>
          </p:cNvPr>
          <p:cNvSpPr/>
          <p:nvPr/>
        </p:nvSpPr>
        <p:spPr>
          <a:xfrm>
            <a:off x="33055719" y="28805802"/>
            <a:ext cx="10405872" cy="1371600"/>
          </a:xfrm>
          <a:prstGeom prst="rect">
            <a:avLst/>
          </a:prstGeom>
          <a:solidFill>
            <a:srgbClr val="5D172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DA076CC-647A-7787-996F-74B852E0996C}"/>
              </a:ext>
            </a:extLst>
          </p:cNvPr>
          <p:cNvSpPr txBox="1"/>
          <p:nvPr/>
        </p:nvSpPr>
        <p:spPr>
          <a:xfrm>
            <a:off x="33055719" y="21270171"/>
            <a:ext cx="10405872" cy="741741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n-US" sz="28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Strengths</a:t>
            </a:r>
            <a:endParaRPr lang="zh-CN" sz="2800">
              <a:latin typeface="Times New Roman" panose="02020603050405020304" pitchFamily="18" charset="0"/>
              <a:ea typeface="等线"/>
              <a:cs typeface="Times New Roman" panose="02020603050405020304" pitchFamily="18" charset="0"/>
            </a:endParaRPr>
          </a:p>
          <a:p>
            <a:pPr marL="457200" indent="-457200" algn="just">
              <a:buFont typeface="Arial"/>
              <a:buChar char="•"/>
            </a:pPr>
            <a:r>
              <a:rPr lang="en-US" sz="28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Robust vibro-acoustic data collection system across multiple channels using low-cost sensors.</a:t>
            </a:r>
          </a:p>
          <a:p>
            <a:pPr marL="457200" indent="-457200" algn="just">
              <a:buFont typeface="Arial"/>
              <a:buChar char="•"/>
            </a:pPr>
            <a:r>
              <a:rPr lang="en-US" sz="28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Computationally inexpensive application of Fourier transforms and ML algorithms in classifying five infill patterns of the same print.</a:t>
            </a:r>
          </a:p>
          <a:p>
            <a:pPr marL="457200" indent="-457200" algn="just">
              <a:buFont typeface="Arial"/>
              <a:buChar char="•"/>
            </a:pPr>
            <a:endParaRPr lang="en-US" sz="280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just"/>
            <a:r>
              <a:rPr lang="en-US" sz="28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Weaknesses</a:t>
            </a:r>
            <a:endParaRPr lang="en-US" sz="280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457200" indent="-457200" algn="just">
              <a:buFont typeface="Arial"/>
              <a:buChar char="•"/>
            </a:pPr>
            <a:r>
              <a:rPr lang="en-US" sz="28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Low sampling rate limits feature richness.</a:t>
            </a:r>
          </a:p>
          <a:p>
            <a:pPr marL="457200" indent="-457200" algn="just">
              <a:buFont typeface="Arial"/>
              <a:buChar char="•"/>
            </a:pPr>
            <a:r>
              <a:rPr lang="en-US" sz="28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Manual under-sampling of data to account for class imbalance.</a:t>
            </a:r>
            <a:endParaRPr lang="en-US" sz="280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457200" indent="-457200" algn="just">
              <a:buFont typeface="Arial"/>
              <a:buChar char="•"/>
            </a:pPr>
            <a:r>
              <a:rPr lang="en-US" sz="28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Hardware location and environmental factors introduced uncontrolled external interference.</a:t>
            </a:r>
            <a:endParaRPr lang="en-US" sz="280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457200" indent="-457200" algn="just">
              <a:buFont typeface="Arial"/>
              <a:buChar char="•"/>
            </a:pPr>
            <a:endParaRPr lang="en-US" sz="280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just"/>
            <a:r>
              <a:rPr lang="en-US" sz="28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Future Work</a:t>
            </a:r>
            <a:endParaRPr lang="en-US" sz="280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457200" indent="-457200" algn="just">
              <a:buFont typeface="Arial"/>
              <a:buChar char="•"/>
            </a:pPr>
            <a:r>
              <a:rPr lang="en-US" sz="28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Introduce additional sensor modalities, such as thermocouples for temperature and cameras for grayscale or color imagery.</a:t>
            </a:r>
          </a:p>
          <a:p>
            <a:pPr marL="457200" indent="-457200" algn="just">
              <a:buFont typeface="Arial"/>
              <a:buChar char="•"/>
            </a:pPr>
            <a:r>
              <a:rPr lang="en-US" sz="28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Increase number of underrepresented samples for improved ML training with the Synthetic Minority Oversampling Technique.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3F11210-E34B-F54F-047C-2EFECC7631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77086" y="9590869"/>
            <a:ext cx="6981026" cy="9900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64320D2-26E8-AF76-1778-61C75EAEC5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3072696"/>
              </p:ext>
            </p:extLst>
          </p:nvPr>
        </p:nvGraphicFramePr>
        <p:xfrm>
          <a:off x="5603681" y="12195523"/>
          <a:ext cx="5025787" cy="64064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7770">
                  <a:extLst>
                    <a:ext uri="{9D8B030D-6E8A-4147-A177-3AD203B41FA5}">
                      <a16:colId xmlns:a16="http://schemas.microsoft.com/office/drawing/2014/main" val="2228762733"/>
                    </a:ext>
                  </a:extLst>
                </a:gridCol>
                <a:gridCol w="1308017">
                  <a:extLst>
                    <a:ext uri="{9D8B030D-6E8A-4147-A177-3AD203B41FA5}">
                      <a16:colId xmlns:a16="http://schemas.microsoft.com/office/drawing/2014/main" val="2353643035"/>
                    </a:ext>
                  </a:extLst>
                </a:gridCol>
              </a:tblGrid>
              <a:tr h="563940">
                <a:tc>
                  <a:txBody>
                    <a:bodyPr/>
                    <a:lstStyle/>
                    <a:p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 Parameters</a:t>
                      </a:r>
                    </a:p>
                  </a:txBody>
                  <a:tcPr>
                    <a:solidFill>
                      <a:srgbClr val="5D17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Values</a:t>
                      </a:r>
                    </a:p>
                  </a:txBody>
                  <a:tcPr>
                    <a:solidFill>
                      <a:srgbClr val="5D17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2070324"/>
                  </a:ext>
                </a:extLst>
              </a:tr>
              <a:tr h="563940">
                <a:tc>
                  <a:txBody>
                    <a:bodyPr/>
                    <a:lstStyle/>
                    <a:p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Material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2622593"/>
                  </a:ext>
                </a:extLst>
              </a:tr>
              <a:tr h="563940">
                <a:tc>
                  <a:txBody>
                    <a:bodyPr/>
                    <a:lstStyle/>
                    <a:p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Layer height (mm)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0.20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5457317"/>
                  </a:ext>
                </a:extLst>
              </a:tr>
              <a:tr h="563940">
                <a:tc>
                  <a:txBody>
                    <a:bodyPr/>
                    <a:lstStyle/>
                    <a:p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Infill density (%)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9574295"/>
                  </a:ext>
                </a:extLst>
              </a:tr>
              <a:tr h="743799">
                <a:tc>
                  <a:txBody>
                    <a:bodyPr/>
                    <a:lstStyle/>
                    <a:p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Infill print speed (mm/s)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2953141"/>
                  </a:ext>
                </a:extLst>
              </a:tr>
              <a:tr h="563940">
                <a:tc>
                  <a:txBody>
                    <a:bodyPr/>
                    <a:lstStyle/>
                    <a:p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Infill angle (degrees)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5073700"/>
                  </a:ext>
                </a:extLst>
              </a:tr>
              <a:tr h="743799">
                <a:tc>
                  <a:txBody>
                    <a:bodyPr/>
                    <a:lstStyle/>
                    <a:p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Printing temperature (C)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210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851351"/>
                  </a:ext>
                </a:extLst>
              </a:tr>
              <a:tr h="971240">
                <a:tc>
                  <a:txBody>
                    <a:bodyPr/>
                    <a:lstStyle/>
                    <a:p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Build plate temperature (C)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787366"/>
                  </a:ext>
                </a:extLst>
              </a:tr>
              <a:tr h="563940">
                <a:tc>
                  <a:txBody>
                    <a:bodyPr/>
                    <a:lstStyle/>
                    <a:p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Nozzle diameter (mm)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0.35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0672490"/>
                  </a:ext>
                </a:extLst>
              </a:tr>
              <a:tr h="563940">
                <a:tc>
                  <a:txBody>
                    <a:bodyPr/>
                    <a:lstStyle/>
                    <a:p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Filament diameter (mm)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1.75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702167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5C9E9BA-AC15-0D24-FD19-2D0066E3A3D5}"/>
              </a:ext>
            </a:extLst>
          </p:cNvPr>
          <p:cNvSpPr txBox="1"/>
          <p:nvPr/>
        </p:nvSpPr>
        <p:spPr>
          <a:xfrm>
            <a:off x="698321" y="6219163"/>
            <a:ext cx="979871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buFont typeface="Wingdings" panose="05000000000000000000" pitchFamily="2" charset="2"/>
              <a:buChar char="§"/>
            </a:pPr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a smart manufacturing system with the MakerGear CoreXY printer that collects multiple </a:t>
            </a:r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vibration and acoustic data </a:t>
            </a:r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while detecting infill patterns.</a:t>
            </a:r>
          </a:p>
          <a:p>
            <a:pPr marL="571500" indent="-571500" algn="just">
              <a:buFont typeface="Wingdings" panose="05000000000000000000" pitchFamily="2" charset="2"/>
              <a:buChar char="§"/>
            </a:pPr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classifies five infill patterns up to </a:t>
            </a:r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92.5% accuracy </a:t>
            </a:r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using different machine learning (ML) classifiers.</a:t>
            </a:r>
          </a:p>
          <a:p>
            <a:pPr marL="571500" indent="-571500" algn="just">
              <a:buFont typeface="Wingdings" panose="05000000000000000000" pitchFamily="2" charset="2"/>
              <a:buChar char="§"/>
            </a:pPr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Infills used: Concentric, Hilbert Curve, Honeycomb, Rectilinear, and Triangle.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385250-8584-DD8C-EC84-37491EFEB0BA}"/>
              </a:ext>
            </a:extLst>
          </p:cNvPr>
          <p:cNvSpPr txBox="1"/>
          <p:nvPr/>
        </p:nvSpPr>
        <p:spPr>
          <a:xfrm>
            <a:off x="11477086" y="6105401"/>
            <a:ext cx="2093623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buFont typeface="Wingdings" panose="05000000000000000000" pitchFamily="2" charset="2"/>
              <a:buChar char="§"/>
            </a:pPr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Provided specimen is in the shape of Mississippi with the dimensions (mm): 23.96 x 40.89 x 3.75. </a:t>
            </a:r>
          </a:p>
          <a:p>
            <a:pPr marL="571500" indent="-571500" algn="just">
              <a:buFont typeface="Wingdings" panose="05000000000000000000" pitchFamily="2" charset="2"/>
              <a:buChar char="§"/>
            </a:pPr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One accelerometer was attached to the print bed and collected data in the Y direction.</a:t>
            </a:r>
          </a:p>
          <a:p>
            <a:pPr marL="571500" indent="-571500" algn="just">
              <a:buFont typeface="Wingdings" panose="05000000000000000000" pitchFamily="2" charset="2"/>
              <a:buChar char="§"/>
            </a:pPr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The other accelerometer was attached to the nozzle and collected data in the Y direction.</a:t>
            </a:r>
          </a:p>
          <a:p>
            <a:pPr marL="571500" indent="-571500" algn="just">
              <a:buFont typeface="Wingdings" panose="05000000000000000000" pitchFamily="2" charset="2"/>
              <a:buChar char="§"/>
            </a:pPr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The acoustic sensors were positioned to collect data from both sides of the nozzle.</a:t>
            </a:r>
          </a:p>
          <a:p>
            <a:pPr marL="571500" indent="-571500" algn="just">
              <a:buFont typeface="Wingdings" panose="05000000000000000000" pitchFamily="2" charset="2"/>
              <a:buChar char="§"/>
            </a:pPr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Data acquired at 5 Hz using the Arduino Mega 2560 integrated with </a:t>
            </a:r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PronterFace and Python. </a:t>
            </a:r>
          </a:p>
        </p:txBody>
      </p:sp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EBADB7DC-A836-02D9-8510-30853B38D11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29961253"/>
              </p:ext>
            </p:extLst>
          </p:nvPr>
        </p:nvGraphicFramePr>
        <p:xfrm>
          <a:off x="11392877" y="21436652"/>
          <a:ext cx="7969275" cy="83898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25" name="Picture 24" descr="A group of metal shapes&#10;&#10;AI-generated content may be incorrect.">
            <a:extLst>
              <a:ext uri="{FF2B5EF4-FFF2-40B4-BE49-F238E27FC236}">
                <a16:creationId xmlns:a16="http://schemas.microsoft.com/office/drawing/2014/main" id="{DAB6ACE9-761C-B8AC-C9AA-778AA255D91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356" y="12850660"/>
            <a:ext cx="4841487" cy="534326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5FF3D4F-141A-F37E-0747-463BED723FF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0240" y="25280657"/>
            <a:ext cx="9386799" cy="6526759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A312534C-B06F-B450-76DD-1B7FF498A833}"/>
              </a:ext>
            </a:extLst>
          </p:cNvPr>
          <p:cNvSpPr txBox="1"/>
          <p:nvPr/>
        </p:nvSpPr>
        <p:spPr>
          <a:xfrm>
            <a:off x="3565499" y="24469878"/>
            <a:ext cx="42727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Wiring Diagram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64ED069-FE4E-5218-E880-F097176535E3}"/>
              </a:ext>
            </a:extLst>
          </p:cNvPr>
          <p:cNvSpPr txBox="1"/>
          <p:nvPr/>
        </p:nvSpPr>
        <p:spPr>
          <a:xfrm>
            <a:off x="33055719" y="30177403"/>
            <a:ext cx="10378280" cy="246221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Y. Fu, A. Downey, L. Yuan, A. Pratt, and Y. Balogun, “In situ monitoring for fused filament fabrication process: A review,” </a:t>
            </a:r>
            <a:r>
              <a:rPr lang="en-US" sz="2200" i="1">
                <a:latin typeface="Times New Roman" panose="02020603050405020304" pitchFamily="18" charset="0"/>
                <a:cs typeface="Times New Roman" panose="02020603050405020304" pitchFamily="18" charset="0"/>
              </a:rPr>
              <a:t>Additive Manufacturing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, vol. 38, p. 101749, Feb. 2021, doi: 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  <a:hlinkClick r:id="rId11"/>
              </a:rPr>
              <a:t>10.1016/j.addma.2020.101749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P. K. Rao, J. (Peter) Liu, D. Roberson, Z. (James) Kong, and C. Williams, “Online Real-Time Quality Monitoring in Additive Manufacturing Processes Using Heterogeneous Sensors,” </a:t>
            </a:r>
            <a:r>
              <a:rPr lang="en-US" sz="2200" i="1">
                <a:latin typeface="Times New Roman" panose="02020603050405020304" pitchFamily="18" charset="0"/>
                <a:cs typeface="Times New Roman" panose="02020603050405020304" pitchFamily="18" charset="0"/>
              </a:rPr>
              <a:t>Journal of Manufacturing Science and Engineering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, vol. 137, no. 6, p. 061007, Dec. 2015, doi: 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  <a:hlinkClick r:id="rId12"/>
              </a:rPr>
              <a:t>10.1115/1.4029823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229660B-142F-5EAC-73B6-8CF81CA2AB8A}"/>
              </a:ext>
            </a:extLst>
          </p:cNvPr>
          <p:cNvSpPr txBox="1"/>
          <p:nvPr/>
        </p:nvSpPr>
        <p:spPr>
          <a:xfrm>
            <a:off x="498913" y="18963222"/>
            <a:ext cx="104058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All G-code was generated using PrusaSlicer 2.4.1</a:t>
            </a:r>
          </a:p>
        </p:txBody>
      </p:sp>
      <p:sp>
        <p:nvSpPr>
          <p:cNvPr id="1043" name="TextBox 1042">
            <a:extLst>
              <a:ext uri="{FF2B5EF4-FFF2-40B4-BE49-F238E27FC236}">
                <a16:creationId xmlns:a16="http://schemas.microsoft.com/office/drawing/2014/main" id="{8960AFEE-0D92-854F-313C-D61D8C86CE47}"/>
              </a:ext>
            </a:extLst>
          </p:cNvPr>
          <p:cNvSpPr txBox="1"/>
          <p:nvPr/>
        </p:nvSpPr>
        <p:spPr>
          <a:xfrm>
            <a:off x="19137616" y="18245021"/>
            <a:ext cx="1252822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>
              <a:buFont typeface="Wingdings" panose="05000000000000000000" pitchFamily="2" charset="2"/>
              <a:buChar char="§"/>
            </a:pPr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No filament extrusion occurred at the first 30 seconds of the data collection, so these samples were eliminated.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4A8DE66-17CA-49BA-994C-66202C8221B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665778" y="9471463"/>
            <a:ext cx="7020532" cy="858632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EB35563-7F34-4BAC-94DE-C2DB705BC38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5805255" y="9471463"/>
            <a:ext cx="6608068" cy="8669073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6B5A5834-8291-4CE2-8F43-D255DFA92CEC}"/>
              </a:ext>
            </a:extLst>
          </p:cNvPr>
          <p:cNvSpPr txBox="1"/>
          <p:nvPr/>
        </p:nvSpPr>
        <p:spPr>
          <a:xfrm>
            <a:off x="11527536" y="29917262"/>
            <a:ext cx="782344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All data and full implementation details are available on GitHub: </a:t>
            </a:r>
            <a:r>
              <a:rPr lang="en-US" sz="400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hlinkClick r:id="rId15"/>
              </a:rPr>
              <a:t>https://github.com/ezy-8/InfillPatternClassifier_FFF</a:t>
            </a:r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D6DBDE1A-A693-CE4E-FE44-9898CD1C8F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2418209"/>
              </p:ext>
            </p:extLst>
          </p:nvPr>
        </p:nvGraphicFramePr>
        <p:xfrm>
          <a:off x="19706165" y="29555994"/>
          <a:ext cx="7007860" cy="29801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280">
                  <a:extLst>
                    <a:ext uri="{9D8B030D-6E8A-4147-A177-3AD203B41FA5}">
                      <a16:colId xmlns:a16="http://schemas.microsoft.com/office/drawing/2014/main" val="2228762733"/>
                    </a:ext>
                  </a:extLst>
                </a:gridCol>
                <a:gridCol w="3370580">
                  <a:extLst>
                    <a:ext uri="{9D8B030D-6E8A-4147-A177-3AD203B41FA5}">
                      <a16:colId xmlns:a16="http://schemas.microsoft.com/office/drawing/2014/main" val="2353643035"/>
                    </a:ext>
                  </a:extLst>
                </a:gridCol>
              </a:tblGrid>
              <a:tr h="678421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</a:p>
                  </a:txBody>
                  <a:tcPr>
                    <a:solidFill>
                      <a:srgbClr val="5D17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Parameters</a:t>
                      </a:r>
                    </a:p>
                  </a:txBody>
                  <a:tcPr>
                    <a:solidFill>
                      <a:srgbClr val="5D17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2070324"/>
                  </a:ext>
                </a:extLst>
              </a:tr>
              <a:tr h="678421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Decision Tree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Maximum depth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2622593"/>
                  </a:ext>
                </a:extLst>
              </a:tr>
              <a:tr h="678421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 of estimators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5457317"/>
                  </a:ext>
                </a:extLst>
              </a:tr>
              <a:tr h="678421"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Multi-Layer Perceptron (MLP)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Hidden layer sizes, activation function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7021670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8AC6E01A-CE71-083F-FFFD-279F73110226}"/>
              </a:ext>
            </a:extLst>
          </p:cNvPr>
          <p:cNvSpPr txBox="1"/>
          <p:nvPr/>
        </p:nvSpPr>
        <p:spPr>
          <a:xfrm>
            <a:off x="20687377" y="21347539"/>
            <a:ext cx="39549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1. Time Domain</a:t>
            </a:r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40F319C0-F063-8721-DE52-803F425477C1}"/>
              </a:ext>
            </a:extLst>
          </p:cNvPr>
          <p:cNvSpPr/>
          <p:nvPr/>
        </p:nvSpPr>
        <p:spPr>
          <a:xfrm>
            <a:off x="25324055" y="23908950"/>
            <a:ext cx="1245016" cy="1164481"/>
          </a:xfrm>
          <a:prstGeom prst="rightArrow">
            <a:avLst>
              <a:gd name="adj1" fmla="val 50000"/>
              <a:gd name="adj2" fmla="val 53441"/>
            </a:avLst>
          </a:prstGeom>
          <a:solidFill>
            <a:srgbClr val="5D172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203662F-9A05-217F-7FF4-65B67B98B7BB}"/>
              </a:ext>
            </a:extLst>
          </p:cNvPr>
          <p:cNvSpPr txBox="1"/>
          <p:nvPr/>
        </p:nvSpPr>
        <p:spPr>
          <a:xfrm>
            <a:off x="26885341" y="21347539"/>
            <a:ext cx="51925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2. Frequency Domain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F06B4F95-A91F-7EEC-6F45-37FFC39AC98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9440424" y="22289931"/>
            <a:ext cx="6134100" cy="447675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3F7D4D54-B67D-B3F8-9C94-7AFC85D6FF35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6751597" y="22361788"/>
            <a:ext cx="5661726" cy="4333036"/>
          </a:xfrm>
          <a:prstGeom prst="rect">
            <a:avLst/>
          </a:prstGeom>
        </p:spPr>
      </p:pic>
      <p:sp>
        <p:nvSpPr>
          <p:cNvPr id="61" name="Arrow: Right 60">
            <a:extLst>
              <a:ext uri="{FF2B5EF4-FFF2-40B4-BE49-F238E27FC236}">
                <a16:creationId xmlns:a16="http://schemas.microsoft.com/office/drawing/2014/main" id="{B6665F28-1FB4-2CA5-4F0C-59DC63C6B612}"/>
              </a:ext>
            </a:extLst>
          </p:cNvPr>
          <p:cNvSpPr/>
          <p:nvPr/>
        </p:nvSpPr>
        <p:spPr>
          <a:xfrm rot="5400000">
            <a:off x="29207850" y="26460671"/>
            <a:ext cx="707888" cy="1371600"/>
          </a:xfrm>
          <a:prstGeom prst="rightArrow">
            <a:avLst/>
          </a:prstGeom>
          <a:solidFill>
            <a:srgbClr val="5D172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6E4A495-F701-D5EB-4AB5-F95B1803F1F4}"/>
              </a:ext>
            </a:extLst>
          </p:cNvPr>
          <p:cNvSpPr txBox="1"/>
          <p:nvPr/>
        </p:nvSpPr>
        <p:spPr>
          <a:xfrm>
            <a:off x="27069215" y="28333927"/>
            <a:ext cx="5344108" cy="418576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800" dirty="0">
                <a:latin typeface="Times New Roman"/>
                <a:ea typeface="+mn-lt"/>
                <a:cs typeface="Times New Roman"/>
              </a:rPr>
              <a:t>Maximum value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800" dirty="0">
                <a:latin typeface="Times New Roman"/>
                <a:ea typeface="+mn-lt"/>
                <a:cs typeface="Times New Roman"/>
              </a:rPr>
              <a:t>Sum of coefficients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800" dirty="0">
                <a:latin typeface="Times New Roman"/>
                <a:ea typeface="+mn-lt"/>
                <a:cs typeface="Times New Roman"/>
              </a:rPr>
              <a:t>Mean of coefficients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800" dirty="0">
                <a:latin typeface="Times New Roman"/>
                <a:ea typeface="+mn-lt"/>
                <a:cs typeface="Times New Roman"/>
              </a:rPr>
              <a:t>Total variance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800" dirty="0">
                <a:latin typeface="Times New Roman"/>
                <a:ea typeface="+mn-lt"/>
                <a:cs typeface="Times New Roman"/>
              </a:rPr>
              <a:t>Peak value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800" dirty="0">
                <a:latin typeface="Times New Roman"/>
                <a:ea typeface="+mn-lt"/>
                <a:cs typeface="Times New Roman"/>
              </a:rPr>
              <a:t>Skew of coefficients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800" dirty="0">
                <a:latin typeface="Times New Roman"/>
                <a:ea typeface="+mn-lt"/>
                <a:cs typeface="Times New Roman"/>
              </a:rPr>
              <a:t>Kurtosis of coefficients</a:t>
            </a:r>
          </a:p>
        </p:txBody>
      </p:sp>
      <p:sp>
        <p:nvSpPr>
          <p:cNvPr id="1027" name="TextBox 1026">
            <a:extLst>
              <a:ext uri="{FF2B5EF4-FFF2-40B4-BE49-F238E27FC236}">
                <a16:creationId xmlns:a16="http://schemas.microsoft.com/office/drawing/2014/main" id="{E990F631-A346-C256-B095-8459B090EDE7}"/>
              </a:ext>
            </a:extLst>
          </p:cNvPr>
          <p:cNvSpPr txBox="1"/>
          <p:nvPr/>
        </p:nvSpPr>
        <p:spPr>
          <a:xfrm>
            <a:off x="27005857" y="27629145"/>
            <a:ext cx="49515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Extracted Features</a:t>
            </a:r>
          </a:p>
        </p:txBody>
      </p:sp>
      <p:sp>
        <p:nvSpPr>
          <p:cNvPr id="1028" name="TextBox 1027">
            <a:extLst>
              <a:ext uri="{FF2B5EF4-FFF2-40B4-BE49-F238E27FC236}">
                <a16:creationId xmlns:a16="http://schemas.microsoft.com/office/drawing/2014/main" id="{F8207DA0-F458-7ABE-7DC5-448048DC0857}"/>
              </a:ext>
            </a:extLst>
          </p:cNvPr>
          <p:cNvSpPr txBox="1"/>
          <p:nvPr/>
        </p:nvSpPr>
        <p:spPr>
          <a:xfrm>
            <a:off x="20528512" y="26978933"/>
            <a:ext cx="42727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Data Splitting</a:t>
            </a:r>
          </a:p>
        </p:txBody>
      </p:sp>
      <p:graphicFrame>
        <p:nvGraphicFramePr>
          <p:cNvPr id="1033" name="Table 1032">
            <a:extLst>
              <a:ext uri="{FF2B5EF4-FFF2-40B4-BE49-F238E27FC236}">
                <a16:creationId xmlns:a16="http://schemas.microsoft.com/office/drawing/2014/main" id="{E9D2DEA0-D4DA-16A6-D46C-F6E7975942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97044"/>
              </p:ext>
            </p:extLst>
          </p:nvPr>
        </p:nvGraphicFramePr>
        <p:xfrm>
          <a:off x="19546569" y="27857136"/>
          <a:ext cx="7205028" cy="6644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31500">
                  <a:extLst>
                    <a:ext uri="{9D8B030D-6E8A-4147-A177-3AD203B41FA5}">
                      <a16:colId xmlns:a16="http://schemas.microsoft.com/office/drawing/2014/main" val="68887625"/>
                    </a:ext>
                  </a:extLst>
                </a:gridCol>
                <a:gridCol w="2573528">
                  <a:extLst>
                    <a:ext uri="{9D8B030D-6E8A-4147-A177-3AD203B41FA5}">
                      <a16:colId xmlns:a16="http://schemas.microsoft.com/office/drawing/2014/main" val="675853063"/>
                    </a:ext>
                  </a:extLst>
                </a:gridCol>
              </a:tblGrid>
              <a:tr h="664486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Train: 320 samples (64 per class)</a:t>
                      </a:r>
                    </a:p>
                  </a:txBody>
                  <a:tcPr anchor="ctr">
                    <a:solidFill>
                      <a:srgbClr val="B435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Test: 80 samples</a:t>
                      </a:r>
                    </a:p>
                  </a:txBody>
                  <a:tcPr anchor="ctr">
                    <a:solidFill>
                      <a:srgbClr val="8F99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6855914"/>
                  </a:ext>
                </a:extLst>
              </a:tr>
            </a:tbl>
          </a:graphicData>
        </a:graphic>
      </p:graphicFrame>
      <p:sp>
        <p:nvSpPr>
          <p:cNvPr id="1034" name="TextBox 1033">
            <a:extLst>
              <a:ext uri="{FF2B5EF4-FFF2-40B4-BE49-F238E27FC236}">
                <a16:creationId xmlns:a16="http://schemas.microsoft.com/office/drawing/2014/main" id="{EBEED75F-5425-154A-8556-CF6CF37106D1}"/>
              </a:ext>
            </a:extLst>
          </p:cNvPr>
          <p:cNvSpPr txBox="1"/>
          <p:nvPr/>
        </p:nvSpPr>
        <p:spPr>
          <a:xfrm>
            <a:off x="20106095" y="28780188"/>
            <a:ext cx="51175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5. Machine Learning</a:t>
            </a:r>
          </a:p>
        </p:txBody>
      </p:sp>
      <p:graphicFrame>
        <p:nvGraphicFramePr>
          <p:cNvPr id="1037" name="Table 1036">
            <a:extLst>
              <a:ext uri="{FF2B5EF4-FFF2-40B4-BE49-F238E27FC236}">
                <a16:creationId xmlns:a16="http://schemas.microsoft.com/office/drawing/2014/main" id="{5B58472C-3068-9D82-EB23-434D5EE331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3010678"/>
              </p:ext>
            </p:extLst>
          </p:nvPr>
        </p:nvGraphicFramePr>
        <p:xfrm>
          <a:off x="33706200" y="7122454"/>
          <a:ext cx="8870699" cy="34407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318">
                  <a:extLst>
                    <a:ext uri="{9D8B030D-6E8A-4147-A177-3AD203B41FA5}">
                      <a16:colId xmlns:a16="http://schemas.microsoft.com/office/drawing/2014/main" val="2228762733"/>
                    </a:ext>
                  </a:extLst>
                </a:gridCol>
                <a:gridCol w="5441381">
                  <a:extLst>
                    <a:ext uri="{9D8B030D-6E8A-4147-A177-3AD203B41FA5}">
                      <a16:colId xmlns:a16="http://schemas.microsoft.com/office/drawing/2014/main" val="2353643035"/>
                    </a:ext>
                  </a:extLst>
                </a:gridCol>
              </a:tblGrid>
              <a:tr h="678421">
                <a:tc>
                  <a:txBody>
                    <a:bodyPr/>
                    <a:lstStyle/>
                    <a:p>
                      <a:pPr algn="ctr"/>
                      <a:r>
                        <a:rPr lang="en-US" sz="4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</a:p>
                  </a:txBody>
                  <a:tcPr>
                    <a:solidFill>
                      <a:srgbClr val="5D17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 Values</a:t>
                      </a:r>
                    </a:p>
                  </a:txBody>
                  <a:tcPr>
                    <a:solidFill>
                      <a:srgbClr val="5D17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2070324"/>
                  </a:ext>
                </a:extLst>
              </a:tr>
              <a:tr h="728053">
                <a:tc>
                  <a:txBody>
                    <a:bodyPr/>
                    <a:lstStyle/>
                    <a:p>
                      <a:pPr algn="ctr"/>
                      <a:r>
                        <a:rPr lang="en-US" sz="4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Decision Tree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Tree depth of 20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2622593"/>
                  </a:ext>
                </a:extLst>
              </a:tr>
              <a:tr h="678421"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Same depth, 50 trees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5457317"/>
                  </a:ext>
                </a:extLst>
              </a:tr>
              <a:tr h="678421"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MLP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 hidden layers with ReLU activation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7021670"/>
                  </a:ext>
                </a:extLst>
              </a:tr>
            </a:tbl>
          </a:graphicData>
        </a:graphic>
      </p:graphicFrame>
      <p:sp>
        <p:nvSpPr>
          <p:cNvPr id="1038" name="TextBox 1037">
            <a:extLst>
              <a:ext uri="{FF2B5EF4-FFF2-40B4-BE49-F238E27FC236}">
                <a16:creationId xmlns:a16="http://schemas.microsoft.com/office/drawing/2014/main" id="{644F882B-C716-E2CE-F583-759B6B3E42CD}"/>
              </a:ext>
            </a:extLst>
          </p:cNvPr>
          <p:cNvSpPr txBox="1"/>
          <p:nvPr/>
        </p:nvSpPr>
        <p:spPr>
          <a:xfrm>
            <a:off x="32938614" y="10624882"/>
            <a:ext cx="104058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comparisons</a:t>
            </a:r>
          </a:p>
        </p:txBody>
      </p:sp>
      <p:graphicFrame>
        <p:nvGraphicFramePr>
          <p:cNvPr id="1039" name="Table 1038">
            <a:extLst>
              <a:ext uri="{FF2B5EF4-FFF2-40B4-BE49-F238E27FC236}">
                <a16:creationId xmlns:a16="http://schemas.microsoft.com/office/drawing/2014/main" id="{4B595FE4-A9E5-0E31-F95A-900C34FF3A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1257103"/>
              </p:ext>
            </p:extLst>
          </p:nvPr>
        </p:nvGraphicFramePr>
        <p:xfrm>
          <a:off x="33187853" y="11403595"/>
          <a:ext cx="10199331" cy="341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318">
                  <a:extLst>
                    <a:ext uri="{9D8B030D-6E8A-4147-A177-3AD203B41FA5}">
                      <a16:colId xmlns:a16="http://schemas.microsoft.com/office/drawing/2014/main" val="2228762733"/>
                    </a:ext>
                  </a:extLst>
                </a:gridCol>
                <a:gridCol w="3447693">
                  <a:extLst>
                    <a:ext uri="{9D8B030D-6E8A-4147-A177-3AD203B41FA5}">
                      <a16:colId xmlns:a16="http://schemas.microsoft.com/office/drawing/2014/main" val="514657097"/>
                    </a:ext>
                  </a:extLst>
                </a:gridCol>
                <a:gridCol w="3322320">
                  <a:extLst>
                    <a:ext uri="{9D8B030D-6E8A-4147-A177-3AD203B41FA5}">
                      <a16:colId xmlns:a16="http://schemas.microsoft.com/office/drawing/2014/main" val="2353643035"/>
                    </a:ext>
                  </a:extLst>
                </a:gridCol>
              </a:tblGrid>
              <a:tr h="739862">
                <a:tc>
                  <a:txBody>
                    <a:bodyPr/>
                    <a:lstStyle/>
                    <a:p>
                      <a:pPr algn="ctr"/>
                      <a:r>
                        <a:rPr lang="en-US" sz="4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</a:p>
                  </a:txBody>
                  <a:tcPr>
                    <a:solidFill>
                      <a:srgbClr val="5D17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Training Accuracy (%)</a:t>
                      </a:r>
                    </a:p>
                  </a:txBody>
                  <a:tcPr>
                    <a:solidFill>
                      <a:srgbClr val="5D17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Testing Accuracy (%)</a:t>
                      </a:r>
                    </a:p>
                  </a:txBody>
                  <a:tcPr>
                    <a:solidFill>
                      <a:srgbClr val="5D17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2070324"/>
                  </a:ext>
                </a:extLst>
              </a:tr>
              <a:tr h="398387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Decision Tree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100.00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92.50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2622593"/>
                  </a:ext>
                </a:extLst>
              </a:tr>
              <a:tr h="398387"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100.00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88.75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5457317"/>
                  </a:ext>
                </a:extLst>
              </a:tr>
              <a:tr h="532291"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MLP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94.06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92.50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7021670"/>
                  </a:ext>
                </a:extLst>
              </a:tr>
            </a:tbl>
          </a:graphicData>
        </a:graphic>
      </p:graphicFrame>
      <p:sp>
        <p:nvSpPr>
          <p:cNvPr id="1040" name="TextBox 1039">
            <a:extLst>
              <a:ext uri="{FF2B5EF4-FFF2-40B4-BE49-F238E27FC236}">
                <a16:creationId xmlns:a16="http://schemas.microsoft.com/office/drawing/2014/main" id="{F35301D7-8559-4CB1-33FE-95A88327ECA9}"/>
              </a:ext>
            </a:extLst>
          </p:cNvPr>
          <p:cNvSpPr txBox="1"/>
          <p:nvPr/>
        </p:nvSpPr>
        <p:spPr>
          <a:xfrm>
            <a:off x="33041923" y="6295600"/>
            <a:ext cx="104058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Chosen model parameter values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D93DC09-545C-B8C3-5FF3-C6F4EF6F4C11}"/>
              </a:ext>
            </a:extLst>
          </p:cNvPr>
          <p:cNvSpPr txBox="1"/>
          <p:nvPr/>
        </p:nvSpPr>
        <p:spPr>
          <a:xfrm>
            <a:off x="33055719" y="14948979"/>
            <a:ext cx="104058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report of MLP classifier</a:t>
            </a:r>
          </a:p>
        </p:txBody>
      </p:sp>
      <p:graphicFrame>
        <p:nvGraphicFramePr>
          <p:cNvPr id="63" name="Table 62">
            <a:extLst>
              <a:ext uri="{FF2B5EF4-FFF2-40B4-BE49-F238E27FC236}">
                <a16:creationId xmlns:a16="http://schemas.microsoft.com/office/drawing/2014/main" id="{F7AC60B5-D50E-4F03-8CF0-6A3047F3B5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9224090"/>
              </p:ext>
            </p:extLst>
          </p:nvPr>
        </p:nvGraphicFramePr>
        <p:xfrm>
          <a:off x="33435425" y="15732877"/>
          <a:ext cx="9591277" cy="396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9205">
                  <a:extLst>
                    <a:ext uri="{9D8B030D-6E8A-4147-A177-3AD203B41FA5}">
                      <a16:colId xmlns:a16="http://schemas.microsoft.com/office/drawing/2014/main" val="2228762733"/>
                    </a:ext>
                  </a:extLst>
                </a:gridCol>
                <a:gridCol w="1880489">
                  <a:extLst>
                    <a:ext uri="{9D8B030D-6E8A-4147-A177-3AD203B41FA5}">
                      <a16:colId xmlns:a16="http://schemas.microsoft.com/office/drawing/2014/main" val="514657097"/>
                    </a:ext>
                  </a:extLst>
                </a:gridCol>
                <a:gridCol w="1368743">
                  <a:extLst>
                    <a:ext uri="{9D8B030D-6E8A-4147-A177-3AD203B41FA5}">
                      <a16:colId xmlns:a16="http://schemas.microsoft.com/office/drawing/2014/main" val="2353643035"/>
                    </a:ext>
                  </a:extLst>
                </a:gridCol>
                <a:gridCol w="1801114">
                  <a:extLst>
                    <a:ext uri="{9D8B030D-6E8A-4147-A177-3AD203B41FA5}">
                      <a16:colId xmlns:a16="http://schemas.microsoft.com/office/drawing/2014/main" val="3757837774"/>
                    </a:ext>
                  </a:extLst>
                </a:gridCol>
                <a:gridCol w="2011726">
                  <a:extLst>
                    <a:ext uri="{9D8B030D-6E8A-4147-A177-3AD203B41FA5}">
                      <a16:colId xmlns:a16="http://schemas.microsoft.com/office/drawing/2014/main" val="695184923"/>
                    </a:ext>
                  </a:extLst>
                </a:gridCol>
              </a:tblGrid>
              <a:tr h="739862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Infill pattern</a:t>
                      </a:r>
                    </a:p>
                  </a:txBody>
                  <a:tcPr>
                    <a:solidFill>
                      <a:srgbClr val="5D17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</a:p>
                  </a:txBody>
                  <a:tcPr>
                    <a:solidFill>
                      <a:srgbClr val="5D17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</a:p>
                  </a:txBody>
                  <a:tcPr>
                    <a:solidFill>
                      <a:srgbClr val="5D17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 Score</a:t>
                      </a:r>
                    </a:p>
                  </a:txBody>
                  <a:tcPr>
                    <a:solidFill>
                      <a:srgbClr val="5D17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Samples in Test Set</a:t>
                      </a:r>
                    </a:p>
                  </a:txBody>
                  <a:tcPr>
                    <a:solidFill>
                      <a:srgbClr val="5D17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2070324"/>
                  </a:ext>
                </a:extLst>
              </a:tr>
              <a:tr h="398387"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Concentric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  <a:endParaRPr lang="zh-CN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  <a:endParaRPr lang="zh-CN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  <a:endParaRPr lang="zh-CN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</a:t>
                      </a:r>
                      <a:endParaRPr lang="zh-CN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2622593"/>
                  </a:ext>
                </a:extLst>
              </a:tr>
              <a:tr h="398387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Hilbert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0.78</a:t>
                      </a:r>
                      <a:endParaRPr lang="zh-CN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0.93</a:t>
                      </a:r>
                      <a:endParaRPr lang="zh-CN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0.85</a:t>
                      </a:r>
                      <a:endParaRPr lang="zh-CN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zh-CN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5457317"/>
                  </a:ext>
                </a:extLst>
              </a:tr>
              <a:tr h="532291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Honeycomb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0.90</a:t>
                      </a:r>
                      <a:endParaRPr lang="zh-CN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0.69</a:t>
                      </a:r>
                      <a:endParaRPr lang="zh-CN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0.78</a:t>
                      </a:r>
                      <a:endParaRPr lang="zh-CN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zh-CN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7021670"/>
                  </a:ext>
                </a:extLst>
              </a:tr>
              <a:tr h="532291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Rectilinear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0.95</a:t>
                      </a:r>
                      <a:endParaRPr lang="zh-CN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  <a:endParaRPr lang="zh-CN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0.97</a:t>
                      </a:r>
                      <a:endParaRPr lang="zh-CN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zh-CN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6074017"/>
                  </a:ext>
                </a:extLst>
              </a:tr>
              <a:tr h="532291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Triangle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  <a:endParaRPr lang="zh-CN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0.92</a:t>
                      </a:r>
                      <a:endParaRPr lang="zh-CN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0.96</a:t>
                      </a:r>
                      <a:endParaRPr lang="zh-CN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CN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929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38054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20EE5C5937A7147BAD1DA665E7FCE26" ma:contentTypeVersion="8" ma:contentTypeDescription="Create a new document." ma:contentTypeScope="" ma:versionID="ea9c33fc4b2817bdcf35e6e36449936d">
  <xsd:schema xmlns:xsd="http://www.w3.org/2001/XMLSchema" xmlns:xs="http://www.w3.org/2001/XMLSchema" xmlns:p="http://schemas.microsoft.com/office/2006/metadata/properties" xmlns:ns2="e946956f-77e7-49b7-a6a3-0d2bc3401d21" targetNamespace="http://schemas.microsoft.com/office/2006/metadata/properties" ma:root="true" ma:fieldsID="b0d59766c78c38d5fa9dd42ef842098d" ns2:_="">
    <xsd:import namespace="e946956f-77e7-49b7-a6a3-0d2bc3401d2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46956f-77e7-49b7-a6a3-0d2bc3401d2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F505E4B-EDAF-4A39-A67D-9A120ABFAAA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946956f-77e7-49b7-a6a3-0d2bc3401d2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183A11F-5BC0-4A9E-A965-DFFBED5E8853}">
  <ds:schemaRefs>
    <ds:schemaRef ds:uri="http://schemas.microsoft.com/office/2006/documentManagement/types"/>
    <ds:schemaRef ds:uri="http://schemas.microsoft.com/office/infopath/2007/PartnerControls"/>
    <ds:schemaRef ds:uri="http://purl.org/dc/terms/"/>
    <ds:schemaRef ds:uri="http://schemas.microsoft.com/office/2006/metadata/properties"/>
    <ds:schemaRef ds:uri="e946956f-77e7-49b7-a6a3-0d2bc3401d21"/>
    <ds:schemaRef ds:uri="http://www.w3.org/XML/1998/namespace"/>
    <ds:schemaRef ds:uri="http://purl.org/dc/dcmitype/"/>
    <ds:schemaRef ds:uri="http://schemas.openxmlformats.org/package/2006/metadata/core-propertie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0A4B0A83-2093-42B1-ACCA-7CCD1B88F722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d51dbb0-af86-45a2-9c97-73fb3935df17}" enabled="0" method="" siteId="{ed51dbb0-af86-45a2-9c97-73fb3935df1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</TotalTime>
  <Words>800</Words>
  <Application>Microsoft Office PowerPoint</Application>
  <PresentationFormat>Custom</PresentationFormat>
  <Paragraphs>141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 Foe, Thomas</dc:creator>
  <cp:lastModifiedBy>Kang, Ethan</cp:lastModifiedBy>
  <cp:revision>3</cp:revision>
  <dcterms:created xsi:type="dcterms:W3CDTF">2022-02-15T17:05:15Z</dcterms:created>
  <dcterms:modified xsi:type="dcterms:W3CDTF">2025-05-11T03:17:15Z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0x010100C20EE5C5937A7147BAD1DA665E7FCE26</vt:lpwstr>
  </property>
</Properties>
</file>